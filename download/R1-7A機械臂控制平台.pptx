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3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tmp/h2p-fit-1793162837879-6oi0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0663" y="0"/>
            <a:ext cx="3843338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0663" y="0"/>
            <a:ext cx="3843338" cy="5143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57200" y="1064419"/>
            <a:ext cx="56617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spc="169" kern="0" dirty="0">
                <a:solidFill>
                  <a:srgbClr val="FF6B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UNITREE R1 · 7-DOF ROBOT ARM</a:t>
            </a:r>
            <a:endParaRPr lang="en-US" sz="800" dirty="0"/>
          </a:p>
        </p:txBody>
      </p:sp>
      <p:sp>
        <p:nvSpPr>
          <p:cNvPr id="6" name="Text 1"/>
          <p:cNvSpPr/>
          <p:nvPr/>
        </p:nvSpPr>
        <p:spPr>
          <a:xfrm>
            <a:off x="457200" y="1384102"/>
            <a:ext cx="7314057" cy="478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3488" b="1" spc="70" kern="0" dirty="0">
                <a:solidFill>
                  <a:srgbClr val="E8EDF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R1-7A</a:t>
            </a:r>
            <a:endParaRPr lang="en-US" sz="3488" dirty="0"/>
          </a:p>
        </p:txBody>
      </p:sp>
      <p:sp>
        <p:nvSpPr>
          <p:cNvPr id="7" name="Text 2"/>
          <p:cNvSpPr/>
          <p:nvPr/>
        </p:nvSpPr>
        <p:spPr>
          <a:xfrm>
            <a:off x="457200" y="1912739"/>
            <a:ext cx="5925312" cy="535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6"/>
              </a:lnSpc>
              <a:buNone/>
            </a:pPr>
            <a:r>
              <a:rPr lang="en-US" sz="3488" b="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機械臂</a:t>
            </a:r>
            <a:pPr algn="l" indent="0" marL="0">
              <a:lnSpc>
                <a:spcPts val="3906"/>
              </a:lnSpc>
              <a:buNone/>
            </a:pPr>
            <a:r>
              <a:rPr lang="en-US" sz="3488" b="1" dirty="0">
                <a:solidFill>
                  <a:srgbClr val="FF6B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控制平台</a:t>
            </a:r>
            <a:endParaRPr lang="en-US" sz="3488" dirty="0"/>
          </a:p>
        </p:txBody>
      </p:sp>
      <p:sp>
        <p:nvSpPr>
          <p:cNvPr id="8" name="Text 3"/>
          <p:cNvSpPr/>
          <p:nvPr/>
        </p:nvSpPr>
        <p:spPr>
          <a:xfrm>
            <a:off x="457200" y="2580233"/>
            <a:ext cx="4999482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15" kern="0" dirty="0">
                <a:solidFill>
                  <a:srgbClr val="97A3B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Robot</a:t>
            </a:r>
            <a:pPr algn="l" indent="0" marL="0">
              <a:lnSpc>
                <a:spcPts val="1519"/>
              </a:lnSpc>
              <a:buNone/>
            </a:pPr>
            <a:r>
              <a:rPr lang="en-US" sz="1013" spc="15" kern="0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519"/>
              </a:lnSpc>
              <a:buNone/>
            </a:pPr>
            <a:r>
              <a:rPr lang="en-US" sz="1013" spc="15" kern="0" dirty="0">
                <a:solidFill>
                  <a:srgbClr val="97A3B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Arm</a:t>
            </a:r>
            <a:pPr algn="l" indent="0" marL="0">
              <a:lnSpc>
                <a:spcPts val="1519"/>
              </a:lnSpc>
              <a:buNone/>
            </a:pPr>
            <a:r>
              <a:rPr lang="en-US" sz="1013" spc="15" kern="0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519"/>
              </a:lnSpc>
              <a:buNone/>
            </a:pPr>
            <a:r>
              <a:rPr lang="en-US" sz="1013" spc="15" kern="0" dirty="0">
                <a:solidFill>
                  <a:srgbClr val="97A3B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Control</a:t>
            </a:r>
            <a:pPr algn="l" indent="0" marL="0">
              <a:lnSpc>
                <a:spcPts val="1519"/>
              </a:lnSpc>
              <a:buNone/>
            </a:pPr>
            <a:r>
              <a:rPr lang="en-US" sz="1013" spc="15" kern="0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519"/>
              </a:lnSpc>
              <a:buNone/>
            </a:pPr>
            <a:r>
              <a:rPr lang="en-US" sz="1013" spc="15" kern="0" dirty="0">
                <a:solidFill>
                  <a:srgbClr val="97A3B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</a:t>
            </a:r>
            <a:pPr algn="l" indent="0" marL="0">
              <a:lnSpc>
                <a:spcPts val="1519"/>
              </a:lnSpc>
              <a:buNone/>
            </a:pPr>
            <a:r>
              <a:rPr lang="en-US" sz="1013" spc="15" kern="0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從裸 </a:t>
            </a:r>
            <a:pPr algn="l" indent="0" marL="0">
              <a:lnSpc>
                <a:spcPts val="1519"/>
              </a:lnSpc>
              <a:buNone/>
            </a:pPr>
            <a:r>
              <a:rPr lang="en-US" sz="1013" spc="15" kern="0" dirty="0">
                <a:solidFill>
                  <a:srgbClr val="97A3B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SDK</a:t>
            </a:r>
            <a:pPr algn="l" indent="0" marL="0">
              <a:lnSpc>
                <a:spcPts val="1519"/>
              </a:lnSpc>
              <a:buNone/>
            </a:pPr>
            <a:r>
              <a:rPr lang="en-US" sz="1013" spc="15" kern="0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到生產級控制平台</a:t>
            </a:r>
            <a:endParaRPr lang="en-US" sz="1013" dirty="0"/>
          </a:p>
        </p:txBody>
      </p:sp>
      <p:sp>
        <p:nvSpPr>
          <p:cNvPr id="9" name="Text 4"/>
          <p:cNvSpPr/>
          <p:nvPr/>
        </p:nvSpPr>
        <p:spPr>
          <a:xfrm>
            <a:off x="457200" y="2880271"/>
            <a:ext cx="4999482" cy="191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872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安全內建</a:t>
            </a:r>
            <a:pPr algn="l" indent="0" marL="0">
              <a:lnSpc>
                <a:spcPts val="1395"/>
              </a:lnSpc>
              <a:buNone/>
            </a:pPr>
            <a:r>
              <a:rPr lang="en-US" sz="872" dirty="0">
                <a:solidFill>
                  <a:srgbClr val="FF6B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</a:t>
            </a:r>
            <a:pPr algn="l" indent="0" marL="0">
              <a:lnSpc>
                <a:spcPts val="1395"/>
              </a:lnSpc>
              <a:buNone/>
            </a:pPr>
            <a:r>
              <a:rPr lang="en-US" sz="872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即時可視</a:t>
            </a:r>
            <a:pPr algn="l" indent="0" marL="0">
              <a:lnSpc>
                <a:spcPts val="1395"/>
              </a:lnSpc>
              <a:buNone/>
            </a:pPr>
            <a:r>
              <a:rPr lang="en-US" sz="872" dirty="0">
                <a:solidFill>
                  <a:srgbClr val="FF6B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</a:t>
            </a:r>
            <a:pPr algn="l" indent="0" marL="0">
              <a:lnSpc>
                <a:spcPts val="1395"/>
              </a:lnSpc>
              <a:buNone/>
            </a:pPr>
            <a:r>
              <a:rPr lang="en-US" sz="872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開放整合</a:t>
            </a:r>
            <a:pPr algn="l" indent="0" marL="0">
              <a:lnSpc>
                <a:spcPts val="1395"/>
              </a:lnSpc>
              <a:buNone/>
            </a:pPr>
            <a:r>
              <a:rPr lang="en-US" sz="872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 </a:t>
            </a:r>
            <a:pPr algn="l" indent="0" marL="0">
              <a:lnSpc>
                <a:spcPts val="1395"/>
              </a:lnSpc>
              <a:buNone/>
            </a:pPr>
            <a:r>
              <a:rPr lang="en-US" sz="872" dirty="0">
                <a:solidFill>
                  <a:srgbClr val="97A3B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Web</a:t>
            </a:r>
            <a:pPr algn="l" indent="0" marL="0">
              <a:lnSpc>
                <a:spcPts val="1395"/>
              </a:lnSpc>
              <a:buNone/>
            </a:pPr>
            <a:r>
              <a:rPr lang="en-US" sz="872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化機械臂底層控制系統</a:t>
            </a:r>
            <a:endParaRPr lang="en-US" sz="872" dirty="0"/>
          </a:p>
        </p:txBody>
      </p:sp>
      <p:sp>
        <p:nvSpPr>
          <p:cNvPr id="10" name="Shape 5"/>
          <p:cNvSpPr/>
          <p:nvPr/>
        </p:nvSpPr>
        <p:spPr>
          <a:xfrm>
            <a:off x="457200" y="3839654"/>
            <a:ext cx="4629150" cy="0"/>
          </a:xfrm>
          <a:prstGeom prst="line">
            <a:avLst/>
          </a:prstGeom>
          <a:noFill/>
          <a:ln w="7144">
            <a:solidFill>
              <a:srgbClr val="2A3444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457200" y="4000388"/>
            <a:ext cx="284321" cy="37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2363" spc="-24" kern="0" dirty="0">
                <a:solidFill>
                  <a:srgbClr val="FF6B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2363" dirty="0"/>
          </a:p>
        </p:txBody>
      </p:sp>
      <p:sp>
        <p:nvSpPr>
          <p:cNvPr id="12" name="Text 7"/>
          <p:cNvSpPr/>
          <p:nvPr/>
        </p:nvSpPr>
        <p:spPr>
          <a:xfrm>
            <a:off x="457200" y="4393295"/>
            <a:ext cx="68233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spc="28" kern="0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自由度 </a:t>
            </a:r>
            <a:pPr algn="l" indent="0" marL="0">
              <a:lnSpc>
                <a:spcPts val="1055"/>
              </a:lnSpc>
              <a:buNone/>
            </a:pPr>
            <a:r>
              <a:rPr lang="en-US" sz="703" spc="28" kern="0" dirty="0">
                <a:solidFill>
                  <a:srgbClr val="97A3B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DOF</a:t>
            </a:r>
            <a:endParaRPr lang="en-US" sz="703" dirty="0"/>
          </a:p>
        </p:txBody>
      </p:sp>
      <p:sp>
        <p:nvSpPr>
          <p:cNvPr id="13" name="Shape 8"/>
          <p:cNvSpPr/>
          <p:nvPr/>
        </p:nvSpPr>
        <p:spPr>
          <a:xfrm>
            <a:off x="1177714" y="4028963"/>
            <a:ext cx="0" cy="501848"/>
          </a:xfrm>
          <a:prstGeom prst="line">
            <a:avLst/>
          </a:prstGeom>
          <a:noFill/>
          <a:ln w="7144">
            <a:solidFill>
              <a:srgbClr val="2A3444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1381311" y="4028963"/>
            <a:ext cx="717947" cy="327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44"/>
              </a:lnSpc>
              <a:buNone/>
            </a:pPr>
            <a:r>
              <a:rPr lang="en-US" sz="2363" spc="-24" kern="0" dirty="0">
                <a:solidFill>
                  <a:srgbClr val="FF6B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</a:t>
            </a:r>
            <a:pPr algn="l" indent="0" marL="0">
              <a:lnSpc>
                <a:spcPts val="3544"/>
              </a:lnSpc>
              <a:buNone/>
            </a:pPr>
            <a:r>
              <a:rPr lang="en-US" sz="1069" dirty="0">
                <a:solidFill>
                  <a:srgbClr val="FF6B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Hz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1381311" y="4396867"/>
            <a:ext cx="717947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spc="28" kern="0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模擬引擎</a:t>
            </a:r>
            <a:endParaRPr lang="en-US" sz="703" dirty="0"/>
          </a:p>
        </p:txBody>
      </p:sp>
      <p:sp>
        <p:nvSpPr>
          <p:cNvPr id="16" name="Shape 11"/>
          <p:cNvSpPr/>
          <p:nvPr/>
        </p:nvSpPr>
        <p:spPr>
          <a:xfrm>
            <a:off x="2302855" y="4028963"/>
            <a:ext cx="0" cy="498277"/>
          </a:xfrm>
          <a:prstGeom prst="line">
            <a:avLst/>
          </a:prstGeom>
          <a:noFill/>
          <a:ln w="7144">
            <a:solidFill>
              <a:srgbClr val="2A3444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2506452" y="4000388"/>
            <a:ext cx="284321" cy="37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2363" spc="-24" kern="0" dirty="0">
                <a:solidFill>
                  <a:srgbClr val="FF6B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2363" dirty="0"/>
          </a:p>
        </p:txBody>
      </p:sp>
      <p:sp>
        <p:nvSpPr>
          <p:cNvPr id="18" name="Text 13"/>
          <p:cNvSpPr/>
          <p:nvPr/>
        </p:nvSpPr>
        <p:spPr>
          <a:xfrm>
            <a:off x="2468500" y="4393295"/>
            <a:ext cx="558105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spc="28" kern="0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微服務架構</a:t>
            </a:r>
            <a:endParaRPr lang="en-US" sz="703" dirty="0"/>
          </a:p>
        </p:txBody>
      </p:sp>
      <p:sp>
        <p:nvSpPr>
          <p:cNvPr id="19" name="Shape 14"/>
          <p:cNvSpPr/>
          <p:nvPr/>
        </p:nvSpPr>
        <p:spPr>
          <a:xfrm>
            <a:off x="3192252" y="4028963"/>
            <a:ext cx="0" cy="498277"/>
          </a:xfrm>
          <a:prstGeom prst="line">
            <a:avLst/>
          </a:prstGeom>
          <a:noFill/>
          <a:ln w="7144">
            <a:solidFill>
              <a:srgbClr val="2A3444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395849" y="4000388"/>
            <a:ext cx="284321" cy="37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2363" spc="-24" kern="0" dirty="0">
                <a:solidFill>
                  <a:srgbClr val="FF6B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</a:t>
            </a:r>
            <a:endParaRPr lang="en-US" sz="2363" dirty="0"/>
          </a:p>
        </p:txBody>
      </p:sp>
      <p:sp>
        <p:nvSpPr>
          <p:cNvPr id="21" name="Text 16"/>
          <p:cNvSpPr/>
          <p:nvPr/>
        </p:nvSpPr>
        <p:spPr>
          <a:xfrm>
            <a:off x="3362362" y="4393295"/>
            <a:ext cx="452735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spc="28" kern="0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功能頁面</a:t>
            </a:r>
            <a:endParaRPr lang="en-US" sz="703" dirty="0"/>
          </a:p>
        </p:txBody>
      </p:sp>
      <p:sp>
        <p:nvSpPr>
          <p:cNvPr id="22" name="Text 17"/>
          <p:cNvSpPr/>
          <p:nvPr/>
        </p:nvSpPr>
        <p:spPr>
          <a:xfrm>
            <a:off x="457200" y="4702262"/>
            <a:ext cx="5416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95" kern="0" dirty="0">
                <a:solidFill>
                  <a:srgbClr val="97A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Engineering Review · 2026.10 · Linux / ROS 2-style / Next.js 16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385763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spc="169" kern="0" dirty="0">
                <a:solidFill>
                  <a:srgbClr val="FF6B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· THE CHALLENGE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00050" y="584002"/>
            <a:ext cx="8636000" cy="33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2138" b="1" spc="21" kern="0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為什麼需要一個平台？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400050" y="960388"/>
            <a:ext cx="863600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直接操作 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97A3B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r1-7a_sdk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，等於在裸串口上盲飛</a:t>
            </a:r>
            <a:endParaRPr lang="en-US" sz="844" dirty="0"/>
          </a:p>
        </p:txBody>
      </p:sp>
      <p:sp>
        <p:nvSpPr>
          <p:cNvPr id="5" name="Text 3"/>
          <p:cNvSpPr/>
          <p:nvPr/>
        </p:nvSpPr>
        <p:spPr>
          <a:xfrm>
            <a:off x="400050" y="1302395"/>
            <a:ext cx="28575" cy="107156"/>
          </a:xfrm>
          <a:prstGeom prst="roundRect">
            <a:avLst>
              <a:gd name="adj" fmla="val 66667"/>
            </a:avLst>
          </a:prstGeom>
          <a:solidFill>
            <a:srgbClr val="FF6B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0063" y="1278285"/>
            <a:ext cx="4343400" cy="16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b="1" spc="41" kern="0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SDK</a:t>
            </a:r>
            <a:pPr algn="l" indent="0" marL="0">
              <a:lnSpc>
                <a:spcPts val="1223"/>
              </a:lnSpc>
              <a:buNone/>
            </a:pPr>
            <a:r>
              <a:rPr lang="en-US" sz="816" b="1" spc="41" kern="0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直操的四大痛點</a:t>
            </a:r>
            <a:endParaRPr lang="en-US" sz="816" dirty="0"/>
          </a:p>
        </p:txBody>
      </p:sp>
      <p:sp>
        <p:nvSpPr>
          <p:cNvPr id="7" name="Text 5"/>
          <p:cNvSpPr/>
          <p:nvPr/>
        </p:nvSpPr>
        <p:spPr>
          <a:xfrm>
            <a:off x="403622" y="1522958"/>
            <a:ext cx="4436269" cy="767060"/>
          </a:xfrm>
          <a:prstGeom prst="roundRect">
            <a:avLst>
              <a:gd name="adj" fmla="val 17385"/>
            </a:avLst>
          </a:prstGeom>
          <a:solidFill>
            <a:srgbClr val="141A23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9353" y="1752898"/>
            <a:ext cx="307181" cy="307181"/>
          </a:xfrm>
          <a:prstGeom prst="roundRect">
            <a:avLst>
              <a:gd name="adj" fmla="val 34109"/>
            </a:avLst>
          </a:prstGeom>
          <a:solidFill>
            <a:srgbClr val="F87171">
              <a:alpha val="9000"/>
            </a:srgbClr>
          </a:solidFill>
          <a:ln w="7144">
            <a:solidFill>
              <a:srgbClr val="F8717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79001" y="1792545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8717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10" name="Text 8"/>
          <p:cNvSpPr/>
          <p:nvPr/>
        </p:nvSpPr>
        <p:spPr>
          <a:xfrm>
            <a:off x="964406" y="1612255"/>
            <a:ext cx="3743325" cy="1743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裸串口協議</a:t>
            </a:r>
            <a:endParaRPr lang="en-US" sz="872" dirty="0"/>
          </a:p>
        </p:txBody>
      </p:sp>
      <p:sp>
        <p:nvSpPr>
          <p:cNvPr id="11" name="Text 9"/>
          <p:cNvSpPr/>
          <p:nvPr/>
        </p:nvSpPr>
        <p:spPr>
          <a:xfrm>
            <a:off x="964406" y="1814066"/>
            <a:ext cx="3411587" cy="157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800" dirty="0">
                <a:solidFill>
                  <a:srgbClr val="97A3B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IM6014</a:t>
            </a:r>
            <a:pPr algn="l" indent="0" marL="0">
              <a:lnSpc>
                <a:spcPts val="124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串列匯流排、</a:t>
            </a:r>
            <a:pPr algn="l" indent="0" marL="0">
              <a:lnSpc>
                <a:spcPts val="1240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/dev/ttyUSB0 · 6,000,000 baud</a:t>
            </a:r>
            <a:pPr algn="l" indent="0" marL="0">
              <a:lnSpc>
                <a:spcPts val="124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，還要做 </a:t>
            </a:r>
            <a:pPr algn="l" indent="0" marL="0">
              <a:lnSpc>
                <a:spcPts val="124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URDF</a:t>
            </a:r>
            <a:pPr algn="l" indent="0" marL="0">
              <a:lnSpc>
                <a:spcPts val="124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幀轉換</a:t>
            </a:r>
            <a:endParaRPr lang="en-US" sz="703" dirty="0"/>
          </a:p>
        </p:txBody>
      </p:sp>
      <p:sp>
        <p:nvSpPr>
          <p:cNvPr id="12" name="Text 10"/>
          <p:cNvSpPr/>
          <p:nvPr/>
        </p:nvSpPr>
        <p:spPr>
          <a:xfrm>
            <a:off x="967978" y="2013198"/>
            <a:ext cx="2031727" cy="183952"/>
          </a:xfrm>
          <a:prstGeom prst="roundRect">
            <a:avLst>
              <a:gd name="adj" fmla="val 36246"/>
            </a:avLst>
          </a:prstGeom>
          <a:solidFill>
            <a:srgbClr val="1B2330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64406" y="2009626"/>
            <a:ext cx="2038871" cy="191095"/>
          </a:xfrm>
          <a:prstGeom prst="rect">
            <a:avLst/>
          </a:prstGeom>
          <a:noFill/>
          <a:ln/>
        </p:spPr>
        <p:txBody>
          <a:bodyPr wrap="none" lIns="71438" tIns="21431" rIns="71438" bIns="21431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FF6B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urdf = dir × scale × motor + offset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93955" y="1612255"/>
            <a:ext cx="138166" cy="18549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dirty="0">
                <a:solidFill>
                  <a:srgbClr val="97A3B6">
                    <a:alpha val="6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403622" y="2382887"/>
            <a:ext cx="4436269" cy="742838"/>
          </a:xfrm>
          <a:prstGeom prst="roundRect">
            <a:avLst>
              <a:gd name="adj" fmla="val 17951"/>
            </a:avLst>
          </a:prstGeom>
          <a:solidFill>
            <a:srgbClr val="141A23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39353" y="2600660"/>
            <a:ext cx="307181" cy="307181"/>
          </a:xfrm>
          <a:prstGeom prst="roundRect">
            <a:avLst>
              <a:gd name="adj" fmla="val 34109"/>
            </a:avLst>
          </a:prstGeom>
          <a:solidFill>
            <a:srgbClr val="F87171">
              <a:alpha val="9000"/>
            </a:srgbClr>
          </a:solidFill>
          <a:ln w="7144">
            <a:solidFill>
              <a:srgbClr val="F8717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79001" y="2640308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8717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1547" dirty="0"/>
          </a:p>
        </p:txBody>
      </p:sp>
      <p:sp>
        <p:nvSpPr>
          <p:cNvPr id="18" name="Text 16"/>
          <p:cNvSpPr/>
          <p:nvPr/>
        </p:nvSpPr>
        <p:spPr>
          <a:xfrm>
            <a:off x="964406" y="2584140"/>
            <a:ext cx="3743325" cy="1743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零可視化</a:t>
            </a:r>
            <a:endParaRPr lang="en-US" sz="872" dirty="0"/>
          </a:p>
        </p:txBody>
      </p:sp>
      <p:sp>
        <p:nvSpPr>
          <p:cNvPr id="19" name="Text 17"/>
          <p:cNvSpPr/>
          <p:nvPr/>
        </p:nvSpPr>
        <p:spPr>
          <a:xfrm>
            <a:off x="964406" y="2785951"/>
            <a:ext cx="2485579" cy="149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沒有 </a:t>
            </a:r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3D</a:t>
            </a:r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態勢、沒有遙測面板，工程師只能盲操作高扭矩硬體</a:t>
            </a:r>
            <a:endParaRPr lang="en-US" sz="703" dirty="0"/>
          </a:p>
        </p:txBody>
      </p:sp>
      <p:sp>
        <p:nvSpPr>
          <p:cNvPr id="20" name="Text 18"/>
          <p:cNvSpPr/>
          <p:nvPr/>
        </p:nvSpPr>
        <p:spPr>
          <a:xfrm>
            <a:off x="4593955" y="2472184"/>
            <a:ext cx="138166" cy="18549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dirty="0">
                <a:solidFill>
                  <a:srgbClr val="97A3B6">
                    <a:alpha val="6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403622" y="3218594"/>
            <a:ext cx="4436269" cy="742838"/>
          </a:xfrm>
          <a:prstGeom prst="roundRect">
            <a:avLst>
              <a:gd name="adj" fmla="val 17951"/>
            </a:avLst>
          </a:prstGeom>
          <a:solidFill>
            <a:srgbClr val="141A23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39353" y="3436367"/>
            <a:ext cx="307181" cy="307181"/>
          </a:xfrm>
          <a:prstGeom prst="roundRect">
            <a:avLst>
              <a:gd name="adj" fmla="val 34109"/>
            </a:avLst>
          </a:prstGeom>
          <a:solidFill>
            <a:srgbClr val="F87171">
              <a:alpha val="9000"/>
            </a:srgbClr>
          </a:solidFill>
          <a:ln w="7144">
            <a:solidFill>
              <a:srgbClr val="F8717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79001" y="3476015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8717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24" name="Text 22"/>
          <p:cNvSpPr/>
          <p:nvPr/>
        </p:nvSpPr>
        <p:spPr>
          <a:xfrm>
            <a:off x="964406" y="3419847"/>
            <a:ext cx="3741153" cy="1743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無安全層</a:t>
            </a:r>
            <a:endParaRPr lang="en-US" sz="872" dirty="0"/>
          </a:p>
        </p:txBody>
      </p:sp>
      <p:sp>
        <p:nvSpPr>
          <p:cNvPr id="25" name="Text 23"/>
          <p:cNvSpPr/>
          <p:nvPr/>
        </p:nvSpPr>
        <p:spPr>
          <a:xfrm>
            <a:off x="964406" y="3621658"/>
            <a:ext cx="2367818" cy="149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指令直達馬達 — 限位驗證、指令去抖、急停聯鎖全部缺席</a:t>
            </a:r>
            <a:endParaRPr lang="en-US" sz="703" dirty="0"/>
          </a:p>
        </p:txBody>
      </p:sp>
      <p:sp>
        <p:nvSpPr>
          <p:cNvPr id="26" name="Text 24"/>
          <p:cNvSpPr/>
          <p:nvPr/>
        </p:nvSpPr>
        <p:spPr>
          <a:xfrm>
            <a:off x="4593955" y="3307891"/>
            <a:ext cx="138166" cy="18549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dirty="0">
                <a:solidFill>
                  <a:srgbClr val="97A3B6">
                    <a:alpha val="6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403622" y="4054301"/>
            <a:ext cx="4436269" cy="742838"/>
          </a:xfrm>
          <a:prstGeom prst="roundRect">
            <a:avLst>
              <a:gd name="adj" fmla="val 17951"/>
            </a:avLst>
          </a:prstGeom>
          <a:solidFill>
            <a:srgbClr val="141A23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39353" y="4272074"/>
            <a:ext cx="307181" cy="307181"/>
          </a:xfrm>
          <a:prstGeom prst="roundRect">
            <a:avLst>
              <a:gd name="adj" fmla="val 34109"/>
            </a:avLst>
          </a:prstGeom>
          <a:solidFill>
            <a:srgbClr val="F87171">
              <a:alpha val="9000"/>
            </a:srgbClr>
          </a:solidFill>
          <a:ln w="7144">
            <a:solidFill>
              <a:srgbClr val="F8717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79001" y="4311722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8717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547" dirty="0"/>
          </a:p>
        </p:txBody>
      </p:sp>
      <p:sp>
        <p:nvSpPr>
          <p:cNvPr id="30" name="Text 28"/>
          <p:cNvSpPr/>
          <p:nvPr/>
        </p:nvSpPr>
        <p:spPr>
          <a:xfrm>
            <a:off x="964406" y="4255554"/>
            <a:ext cx="2258568" cy="1743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無審計無權限</a:t>
            </a:r>
            <a:endParaRPr lang="en-US" sz="872" dirty="0"/>
          </a:p>
        </p:txBody>
      </p:sp>
      <p:sp>
        <p:nvSpPr>
          <p:cNvPr id="31" name="Text 29"/>
          <p:cNvSpPr/>
          <p:nvPr/>
        </p:nvSpPr>
        <p:spPr>
          <a:xfrm>
            <a:off x="964406" y="4457365"/>
            <a:ext cx="1852732" cy="149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操作不留痕、無角色隔離，出了事無從追溯</a:t>
            </a:r>
            <a:endParaRPr lang="en-US" sz="703" dirty="0"/>
          </a:p>
        </p:txBody>
      </p:sp>
      <p:sp>
        <p:nvSpPr>
          <p:cNvPr id="32" name="Text 30"/>
          <p:cNvSpPr/>
          <p:nvPr/>
        </p:nvSpPr>
        <p:spPr>
          <a:xfrm>
            <a:off x="4593955" y="4143598"/>
            <a:ext cx="138166" cy="18549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dirty="0">
                <a:solidFill>
                  <a:srgbClr val="97A3B6">
                    <a:alpha val="6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5032772" y="1281857"/>
            <a:ext cx="3707606" cy="3515171"/>
          </a:xfrm>
          <a:prstGeom prst="roundRect">
            <a:avLst>
              <a:gd name="adj" fmla="val 3794"/>
            </a:avLst>
          </a:prstGeom>
          <a:solidFill>
            <a:srgbClr val="1B2330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236369" y="1495276"/>
            <a:ext cx="28575" cy="107156"/>
          </a:xfrm>
          <a:prstGeom prst="roundRect">
            <a:avLst>
              <a:gd name="adj" fmla="val 66667"/>
            </a:avLst>
          </a:prstGeom>
          <a:solidFill>
            <a:srgbClr val="FF6B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336381" y="1471166"/>
            <a:ext cx="3200400" cy="16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b="1" spc="41" kern="0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我們的目標</a:t>
            </a:r>
            <a:endParaRPr lang="en-US" sz="816" dirty="0"/>
          </a:p>
        </p:txBody>
      </p:sp>
      <p:sp>
        <p:nvSpPr>
          <p:cNvPr id="36" name="Text 34"/>
          <p:cNvSpPr/>
          <p:nvPr/>
        </p:nvSpPr>
        <p:spPr>
          <a:xfrm>
            <a:off x="5236369" y="1755130"/>
            <a:ext cx="3300413" cy="2797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94"/>
              </a:lnSpc>
              <a:buNone/>
            </a:pPr>
            <a:r>
              <a:rPr lang="en-US" sz="1688" b="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一個生產級 </a:t>
            </a:r>
            <a:pPr algn="l" indent="0" marL="0">
              <a:lnSpc>
                <a:spcPts val="2194"/>
              </a:lnSpc>
              <a:buNone/>
            </a:pPr>
            <a:r>
              <a:rPr lang="en-US" sz="1688" b="1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Web</a:t>
            </a:r>
            <a:pPr algn="l" indent="0" marL="0">
              <a:lnSpc>
                <a:spcPts val="2194"/>
              </a:lnSpc>
              <a:buNone/>
            </a:pPr>
            <a:r>
              <a:rPr lang="en-US" sz="1688" b="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控制平台</a:t>
            </a:r>
            <a:endParaRPr lang="en-US" sz="1688" dirty="0"/>
          </a:p>
        </p:txBody>
      </p:sp>
      <p:sp>
        <p:nvSpPr>
          <p:cNvPr id="37" name="Shape 35"/>
          <p:cNvSpPr/>
          <p:nvPr/>
        </p:nvSpPr>
        <p:spPr>
          <a:xfrm>
            <a:off x="5236369" y="2627561"/>
            <a:ext cx="3300413" cy="0"/>
          </a:xfrm>
          <a:prstGeom prst="line">
            <a:avLst/>
          </a:prstGeom>
          <a:noFill/>
          <a:ln w="7144">
            <a:solidFill>
              <a:srgbClr val="2A3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6369" y="2183755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77" dirty="0"/>
          </a:p>
        </p:txBody>
      </p:sp>
      <p:sp>
        <p:nvSpPr>
          <p:cNvPr id="39" name="Text 37"/>
          <p:cNvSpPr/>
          <p:nvPr/>
        </p:nvSpPr>
        <p:spPr>
          <a:xfrm>
            <a:off x="5479256" y="2176611"/>
            <a:ext cx="3057525" cy="1672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</a:t>
            </a:r>
            <a:endParaRPr lang="en-US" sz="872" dirty="0"/>
          </a:p>
        </p:txBody>
      </p:sp>
      <p:sp>
        <p:nvSpPr>
          <p:cNvPr id="40" name="Text 38"/>
          <p:cNvSpPr/>
          <p:nvPr/>
        </p:nvSpPr>
        <p:spPr>
          <a:xfrm>
            <a:off x="5479256" y="2371279"/>
            <a:ext cx="2065213" cy="138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每一條指令必經安全層：限位 + 去抖 + </a:t>
            </a:r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E-stop</a:t>
            </a:r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聯鎖</a:t>
            </a:r>
            <a:endParaRPr lang="en-US" sz="703" dirty="0"/>
          </a:p>
        </p:txBody>
      </p:sp>
      <p:sp>
        <p:nvSpPr>
          <p:cNvPr id="41" name="Shape 39"/>
          <p:cNvSpPr/>
          <p:nvPr/>
        </p:nvSpPr>
        <p:spPr>
          <a:xfrm>
            <a:off x="5236369" y="3470300"/>
            <a:ext cx="3300413" cy="0"/>
          </a:xfrm>
          <a:prstGeom prst="line">
            <a:avLst/>
          </a:prstGeom>
          <a:noFill/>
          <a:ln w="7144">
            <a:solidFill>
              <a:srgbClr val="2A34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36369" y="3019351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77" dirty="0"/>
          </a:p>
        </p:txBody>
      </p:sp>
      <p:sp>
        <p:nvSpPr>
          <p:cNvPr id="43" name="Text 41"/>
          <p:cNvSpPr/>
          <p:nvPr/>
        </p:nvSpPr>
        <p:spPr>
          <a:xfrm>
            <a:off x="5479256" y="3012207"/>
            <a:ext cx="3057525" cy="1672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可視</a:t>
            </a:r>
            <a:endParaRPr lang="en-US" sz="872" dirty="0"/>
          </a:p>
        </p:txBody>
      </p:sp>
      <p:sp>
        <p:nvSpPr>
          <p:cNvPr id="44" name="Text 42"/>
          <p:cNvSpPr/>
          <p:nvPr/>
        </p:nvSpPr>
        <p:spPr>
          <a:xfrm>
            <a:off x="5479256" y="3206874"/>
            <a:ext cx="1957722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3D</a:t>
            </a:r>
            <a:pPr algn="l" indent="0" marL="0">
              <a:lnSpc>
                <a:spcPts val="124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即時渲染、</a:t>
            </a:r>
            <a:pPr algn="l" indent="0" marL="0">
              <a:lnSpc>
                <a:spcPts val="1240"/>
              </a:lnSpc>
              <a:buNone/>
            </a:pPr>
            <a:r>
              <a:rPr lang="en-US" sz="800" dirty="0">
                <a:solidFill>
                  <a:srgbClr val="97A3B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50Hz</a:t>
            </a:r>
            <a:pPr algn="l" indent="0" marL="0">
              <a:lnSpc>
                <a:spcPts val="124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遙測趨勢、事件流一眼看清</a:t>
            </a:r>
            <a:endParaRPr lang="en-US" sz="703" dirty="0"/>
          </a:p>
        </p:txBody>
      </p:sp>
      <p:sp>
        <p:nvSpPr>
          <p:cNvPr id="45" name="Text 43"/>
          <p:cNvSpPr/>
          <p:nvPr/>
        </p:nvSpPr>
        <p:spPr>
          <a:xfrm>
            <a:off x="5236369" y="3862090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77" dirty="0"/>
          </a:p>
        </p:txBody>
      </p:sp>
      <p:sp>
        <p:nvSpPr>
          <p:cNvPr id="46" name="Text 44"/>
          <p:cNvSpPr/>
          <p:nvPr/>
        </p:nvSpPr>
        <p:spPr>
          <a:xfrm>
            <a:off x="5479256" y="3854946"/>
            <a:ext cx="3057525" cy="1672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可整合</a:t>
            </a:r>
            <a:endParaRPr lang="en-US" sz="872" dirty="0"/>
          </a:p>
        </p:txBody>
      </p:sp>
      <p:sp>
        <p:nvSpPr>
          <p:cNvPr id="47" name="Text 45"/>
          <p:cNvSpPr/>
          <p:nvPr/>
        </p:nvSpPr>
        <p:spPr>
          <a:xfrm>
            <a:off x="5479256" y="4049613"/>
            <a:ext cx="2271489" cy="149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REST</a:t>
            </a:r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</a:t>
            </a:r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WS</a:t>
            </a:r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開放介面、金鑰角色控權、部署包直達真機</a:t>
            </a:r>
            <a:endParaRPr lang="en-US" sz="703" dirty="0"/>
          </a:p>
        </p:txBody>
      </p:sp>
      <p:sp>
        <p:nvSpPr>
          <p:cNvPr id="48" name="Text 46"/>
          <p:cNvSpPr/>
          <p:nvPr/>
        </p:nvSpPr>
        <p:spPr>
          <a:xfrm>
            <a:off x="5213509" y="4346672"/>
            <a:ext cx="1713451" cy="288136"/>
          </a:xfrm>
          <a:prstGeom prst="roundRect">
            <a:avLst>
              <a:gd name="adj" fmla="val 3302425"/>
            </a:avLst>
          </a:prstGeom>
          <a:solidFill>
            <a:srgbClr val="FF6B1A">
              <a:alpha val="12000"/>
            </a:srgbClr>
          </a:solidFill>
          <a:ln w="7144">
            <a:solidFill>
              <a:srgbClr val="FF6B1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529263" y="4438055"/>
            <a:ext cx="1253393" cy="10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FF6B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模擬即真機 — 同一套代碼路徑</a:t>
            </a:r>
            <a:endParaRPr lang="en-US" sz="703" dirty="0"/>
          </a:p>
        </p:txBody>
      </p:sp>
      <p:sp>
        <p:nvSpPr>
          <p:cNvPr id="50" name="Text 48"/>
          <p:cNvSpPr/>
          <p:nvPr/>
        </p:nvSpPr>
        <p:spPr>
          <a:xfrm>
            <a:off x="5357813" y="443359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6B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385763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spc="169" kern="0" dirty="0">
                <a:solidFill>
                  <a:srgbClr val="FF6B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· THE PLATFORM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00050" y="584002"/>
            <a:ext cx="8636000" cy="33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2138" b="1" spc="21" kern="0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三服務架構，一個控制平面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400050" y="960388"/>
            <a:ext cx="8636000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每個服務單一職責，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97A3B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ROS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97A3B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概念完整映射</a:t>
            </a:r>
            <a:endParaRPr lang="en-US" sz="844" dirty="0"/>
          </a:p>
        </p:txBody>
      </p:sp>
      <p:sp>
        <p:nvSpPr>
          <p:cNvPr id="5" name="Text 3"/>
          <p:cNvSpPr/>
          <p:nvPr/>
        </p:nvSpPr>
        <p:spPr>
          <a:xfrm>
            <a:off x="403622" y="1281857"/>
            <a:ext cx="4114800" cy="1478756"/>
          </a:xfrm>
          <a:prstGeom prst="roundRect">
            <a:avLst>
              <a:gd name="adj" fmla="val 9018"/>
            </a:avLst>
          </a:prstGeom>
          <a:solidFill>
            <a:srgbClr val="141A23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50069" y="1399729"/>
            <a:ext cx="3378101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spc="10" kern="0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Web</a:t>
            </a:r>
            <a:pPr algn="l" indent="0" marL="0">
              <a:lnSpc>
                <a:spcPts val="1434"/>
              </a:lnSpc>
              <a:buNone/>
            </a:pPr>
            <a:r>
              <a:rPr lang="en-US" sz="956" b="1" spc="10" kern="0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434"/>
              </a:lnSpc>
              <a:buNone/>
            </a:pPr>
            <a:r>
              <a:rPr lang="en-US" sz="956" b="1" spc="10" kern="0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UI</a:t>
            </a:r>
            <a:pPr algn="l" indent="0" marL="0">
              <a:lnSpc>
                <a:spcPts val="1434"/>
              </a:lnSpc>
              <a:buNone/>
            </a:pPr>
            <a:r>
              <a:rPr lang="en-US" sz="956" b="1" spc="10" kern="0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前端</a:t>
            </a:r>
            <a:endParaRPr lang="en-US" sz="956" dirty="0"/>
          </a:p>
        </p:txBody>
      </p:sp>
      <p:sp>
        <p:nvSpPr>
          <p:cNvPr id="7" name="Text 5"/>
          <p:cNvSpPr/>
          <p:nvPr/>
        </p:nvSpPr>
        <p:spPr>
          <a:xfrm>
            <a:off x="3947565" y="1392799"/>
            <a:ext cx="440734" cy="196025"/>
          </a:xfrm>
          <a:prstGeom prst="roundRect">
            <a:avLst>
              <a:gd name="adj" fmla="val 4854215"/>
            </a:avLst>
          </a:prstGeom>
          <a:solidFill>
            <a:srgbClr val="4CC9F0">
              <a:alpha val="10000"/>
            </a:srgbClr>
          </a:solidFill>
          <a:ln w="7144">
            <a:solidFill>
              <a:srgbClr val="4CC9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963888" y="1403300"/>
            <a:ext cx="40808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4CC9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:3000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50069" y="1646188"/>
            <a:ext cx="38219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7A3B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Next.js 16 · React 19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50069" y="1856929"/>
            <a:ext cx="3821906" cy="15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97A3B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</a:t>
            </a:r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個功能頁面</a:t>
            </a:r>
            <a:endParaRPr lang="en-US" sz="731" dirty="0"/>
          </a:p>
        </p:txBody>
      </p:sp>
      <p:sp>
        <p:nvSpPr>
          <p:cNvPr id="11" name="Text 9"/>
          <p:cNvSpPr/>
          <p:nvPr/>
        </p:nvSpPr>
        <p:spPr>
          <a:xfrm>
            <a:off x="550069" y="2144679"/>
            <a:ext cx="801774" cy="196025"/>
          </a:xfrm>
          <a:prstGeom prst="roundRect">
            <a:avLst>
              <a:gd name="adj" fmla="val 4854215"/>
            </a:avLst>
          </a:prstGeom>
          <a:solidFill>
            <a:srgbClr val="1B2330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50069" y="2155180"/>
            <a:ext cx="8017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700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Dashboard</a:t>
            </a:r>
            <a:pPr algn="ctr" indent="0" marL="0">
              <a:lnSpc>
                <a:spcPts val="928"/>
              </a:lnSpc>
              <a:buNone/>
            </a:pPr>
            <a:r>
              <a:rPr lang="en-US" sz="700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總覽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401849" y="2144679"/>
            <a:ext cx="707120" cy="196025"/>
          </a:xfrm>
          <a:prstGeom prst="roundRect">
            <a:avLst>
              <a:gd name="adj" fmla="val 4854215"/>
            </a:avLst>
          </a:prstGeom>
          <a:solidFill>
            <a:srgbClr val="1B2330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401849" y="2155180"/>
            <a:ext cx="70712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700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Control</a:t>
            </a:r>
            <a:pPr algn="ctr" indent="0" marL="0">
              <a:lnSpc>
                <a:spcPts val="928"/>
              </a:lnSpc>
              <a:buNone/>
            </a:pPr>
            <a:r>
              <a:rPr lang="en-US" sz="700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控制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158975" y="2144679"/>
            <a:ext cx="470595" cy="196025"/>
          </a:xfrm>
          <a:prstGeom prst="roundRect">
            <a:avLst>
              <a:gd name="adj" fmla="val 4854215"/>
            </a:avLst>
          </a:prstGeom>
          <a:solidFill>
            <a:srgbClr val="1B2330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158975" y="2155180"/>
            <a:ext cx="47059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700" dirty="0">
                <a:solidFill>
                  <a:srgbClr val="E8EDF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3D</a:t>
            </a:r>
            <a:pPr algn="ctr" indent="0" marL="0">
              <a:lnSpc>
                <a:spcPts val="928"/>
              </a:lnSpc>
              <a:buNone/>
            </a:pPr>
            <a:r>
              <a:rPr lang="en-US" sz="700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視圖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679576" y="2144679"/>
            <a:ext cx="691158" cy="196025"/>
          </a:xfrm>
          <a:prstGeom prst="roundRect">
            <a:avLst>
              <a:gd name="adj" fmla="val 4854215"/>
            </a:avLst>
          </a:prstGeom>
          <a:solidFill>
            <a:srgbClr val="1B2330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679576" y="2155180"/>
            <a:ext cx="6911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700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Poses</a:t>
            </a:r>
            <a:pPr algn="ctr" indent="0" marL="0">
              <a:lnSpc>
                <a:spcPts val="928"/>
              </a:lnSpc>
              <a:buNone/>
            </a:pPr>
            <a:r>
              <a:rPr lang="en-US" sz="700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姿勢庫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420740" y="2144679"/>
            <a:ext cx="642938" cy="196025"/>
          </a:xfrm>
          <a:prstGeom prst="roundRect">
            <a:avLst>
              <a:gd name="adj" fmla="val 4854215"/>
            </a:avLst>
          </a:prstGeom>
          <a:solidFill>
            <a:srgbClr val="1B2330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411945" y="2155180"/>
            <a:ext cx="66052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700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軌跡錄製回放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50069" y="2369707"/>
            <a:ext cx="565249" cy="196025"/>
          </a:xfrm>
          <a:prstGeom prst="roundRect">
            <a:avLst>
              <a:gd name="adj" fmla="val 4854215"/>
            </a:avLst>
          </a:prstGeom>
          <a:solidFill>
            <a:srgbClr val="1B2330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50069" y="2380208"/>
            <a:ext cx="56524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700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Logs</a:t>
            </a:r>
            <a:pPr algn="ctr" indent="0" marL="0">
              <a:lnSpc>
                <a:spcPts val="928"/>
              </a:lnSpc>
              <a:buNone/>
            </a:pPr>
            <a:r>
              <a:rPr lang="en-US" sz="700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日誌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165324" y="2369707"/>
            <a:ext cx="549957" cy="196025"/>
          </a:xfrm>
          <a:prstGeom prst="roundRect">
            <a:avLst>
              <a:gd name="adj" fmla="val 4854215"/>
            </a:avLst>
          </a:prstGeom>
          <a:solidFill>
            <a:srgbClr val="1B2330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163565" y="2380208"/>
            <a:ext cx="55347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Keys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765288" y="2369707"/>
            <a:ext cx="517922" cy="196025"/>
          </a:xfrm>
          <a:prstGeom prst="roundRect">
            <a:avLst>
              <a:gd name="adj" fmla="val 4854215"/>
            </a:avLst>
          </a:prstGeom>
          <a:solidFill>
            <a:srgbClr val="1B2330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765288" y="2380208"/>
            <a:ext cx="51792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700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</a:t>
            </a:r>
            <a:pPr algn="ctr" indent="0" marL="0">
              <a:lnSpc>
                <a:spcPts val="928"/>
              </a:lnSpc>
              <a:buNone/>
            </a:pPr>
            <a:r>
              <a:rPr lang="en-US" sz="700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文檔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333216" y="2369707"/>
            <a:ext cx="754447" cy="196025"/>
          </a:xfrm>
          <a:prstGeom prst="roundRect">
            <a:avLst>
              <a:gd name="adj" fmla="val 4854215"/>
            </a:avLst>
          </a:prstGeom>
          <a:solidFill>
            <a:srgbClr val="1B2330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333216" y="2380208"/>
            <a:ext cx="75444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700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Settings</a:t>
            </a:r>
            <a:pPr algn="ctr" indent="0" marL="0">
              <a:lnSpc>
                <a:spcPts val="928"/>
              </a:lnSpc>
              <a:buNone/>
            </a:pPr>
            <a:r>
              <a:rPr lang="en-US" sz="700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設定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625578" y="1281857"/>
            <a:ext cx="4114800" cy="1478756"/>
          </a:xfrm>
          <a:prstGeom prst="roundRect">
            <a:avLst>
              <a:gd name="adj" fmla="val 9018"/>
            </a:avLst>
          </a:prstGeom>
          <a:solidFill>
            <a:srgbClr val="141A23"/>
          </a:solidFill>
          <a:ln w="7144">
            <a:solidFill>
              <a:srgbClr val="FF6B1A"/>
            </a:solidFill>
            <a:prstDash val="solid"/>
          </a:ln>
          <a:effectLst>
            <a:outerShdw sx="100000" sy="100000" kx="0" ky="0" algn="bl" rotWithShape="0" blurRad="101600" dist="50800" dir="16200000">
              <a:srgbClr val="FF6B1A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72025" y="1399729"/>
            <a:ext cx="3378101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spc="10" kern="0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Robot Control Service</a:t>
            </a:r>
            <a:endParaRPr lang="en-US" sz="956" dirty="0"/>
          </a:p>
        </p:txBody>
      </p:sp>
      <p:sp>
        <p:nvSpPr>
          <p:cNvPr id="31" name="Text 29"/>
          <p:cNvSpPr/>
          <p:nvPr/>
        </p:nvSpPr>
        <p:spPr>
          <a:xfrm>
            <a:off x="8169521" y="1392799"/>
            <a:ext cx="440734" cy="196025"/>
          </a:xfrm>
          <a:prstGeom prst="roundRect">
            <a:avLst>
              <a:gd name="adj" fmla="val 4854215"/>
            </a:avLst>
          </a:prstGeom>
          <a:solidFill>
            <a:srgbClr val="FF6B1A">
              <a:alpha val="12000"/>
            </a:srgbClr>
          </a:solidFill>
          <a:ln w="7144">
            <a:solidFill>
              <a:srgbClr val="FF6B1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185845" y="1403300"/>
            <a:ext cx="40808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FF6B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:3002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72025" y="1726890"/>
            <a:ext cx="35719" cy="35719"/>
          </a:xfrm>
          <a:prstGeom prst="roundRect">
            <a:avLst>
              <a:gd name="adj" fmla="val 40000"/>
            </a:avLst>
          </a:prstGeom>
          <a:solidFill>
            <a:srgbClr val="FF6B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872038" y="1676884"/>
            <a:ext cx="3721894" cy="155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731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Lifecycle</a:t>
            </a:r>
            <a:pPr algn="l" indent="0" marL="0">
              <a:lnSpc>
                <a:spcPts val="1133"/>
              </a:lnSpc>
              <a:buNone/>
            </a:pPr>
            <a:r>
              <a:rPr lang="en-US" sz="73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133"/>
              </a:lnSpc>
              <a:buNone/>
            </a:pPr>
            <a:r>
              <a:rPr lang="en-US" sz="731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Node</a:t>
            </a:r>
            <a:pPr algn="l" indent="0" marL="0">
              <a:lnSpc>
                <a:spcPts val="1133"/>
              </a:lnSpc>
              <a:buNone/>
            </a:pPr>
            <a:r>
              <a:rPr lang="en-US" sz="73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架構</a:t>
            </a:r>
            <a:endParaRPr lang="en-US" sz="731" dirty="0"/>
          </a:p>
        </p:txBody>
      </p:sp>
      <p:sp>
        <p:nvSpPr>
          <p:cNvPr id="35" name="Text 33"/>
          <p:cNvSpPr/>
          <p:nvPr/>
        </p:nvSpPr>
        <p:spPr>
          <a:xfrm>
            <a:off x="4772025" y="1922897"/>
            <a:ext cx="35719" cy="35719"/>
          </a:xfrm>
          <a:prstGeom prst="roundRect">
            <a:avLst>
              <a:gd name="adj" fmla="val 40000"/>
            </a:avLst>
          </a:prstGeom>
          <a:solidFill>
            <a:srgbClr val="FF6B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872038" y="1872890"/>
            <a:ext cx="3721894" cy="155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200Hz</a:t>
            </a:r>
            <a:pPr algn="l" indent="0" marL="0">
              <a:lnSpc>
                <a:spcPts val="1240"/>
              </a:lnSpc>
              <a:buNone/>
            </a:pPr>
            <a:r>
              <a:rPr lang="en-US" sz="73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模擬物理引擎</a:t>
            </a:r>
            <a:endParaRPr lang="en-US" sz="731" dirty="0"/>
          </a:p>
        </p:txBody>
      </p:sp>
      <p:sp>
        <p:nvSpPr>
          <p:cNvPr id="37" name="Text 35"/>
          <p:cNvSpPr/>
          <p:nvPr/>
        </p:nvSpPr>
        <p:spPr>
          <a:xfrm>
            <a:off x="4772025" y="2118903"/>
            <a:ext cx="35719" cy="35719"/>
          </a:xfrm>
          <a:prstGeom prst="roundRect">
            <a:avLst>
              <a:gd name="adj" fmla="val 40000"/>
            </a:avLst>
          </a:prstGeom>
          <a:solidFill>
            <a:srgbClr val="FF6B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872038" y="2068897"/>
            <a:ext cx="3721894" cy="155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73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餘弦軌跡插補</a:t>
            </a:r>
            <a:endParaRPr lang="en-US" sz="731" dirty="0"/>
          </a:p>
        </p:txBody>
      </p:sp>
      <p:sp>
        <p:nvSpPr>
          <p:cNvPr id="39" name="Text 37"/>
          <p:cNvSpPr/>
          <p:nvPr/>
        </p:nvSpPr>
        <p:spPr>
          <a:xfrm>
            <a:off x="4772025" y="2314910"/>
            <a:ext cx="35719" cy="35719"/>
          </a:xfrm>
          <a:prstGeom prst="roundRect">
            <a:avLst>
              <a:gd name="adj" fmla="val 40000"/>
            </a:avLst>
          </a:prstGeom>
          <a:solidFill>
            <a:srgbClr val="FF6B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872038" y="2264904"/>
            <a:ext cx="3721894" cy="155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73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安全層（限位 / 去抖 / </a:t>
            </a:r>
            <a:pPr algn="l" indent="0" marL="0">
              <a:lnSpc>
                <a:spcPts val="1133"/>
              </a:lnSpc>
              <a:buNone/>
            </a:pPr>
            <a:r>
              <a:rPr lang="en-US" sz="731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E-stop</a:t>
            </a:r>
            <a:pPr algn="l" indent="0" marL="0">
              <a:lnSpc>
                <a:spcPts val="1133"/>
              </a:lnSpc>
              <a:buNone/>
            </a:pPr>
            <a:r>
              <a:rPr lang="en-US" sz="73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731" dirty="0"/>
          </a:p>
        </p:txBody>
      </p:sp>
      <p:sp>
        <p:nvSpPr>
          <p:cNvPr id="41" name="Text 39"/>
          <p:cNvSpPr/>
          <p:nvPr/>
        </p:nvSpPr>
        <p:spPr>
          <a:xfrm>
            <a:off x="4772025" y="2510917"/>
            <a:ext cx="35719" cy="35719"/>
          </a:xfrm>
          <a:prstGeom prst="roundRect">
            <a:avLst>
              <a:gd name="adj" fmla="val 40000"/>
            </a:avLst>
          </a:prstGeom>
          <a:solidFill>
            <a:srgbClr val="FF6B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872038" y="2460910"/>
            <a:ext cx="3721894" cy="155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73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三驅動 </a:t>
            </a:r>
            <a:pPr algn="l" indent="0" marL="0">
              <a:lnSpc>
                <a:spcPts val="1133"/>
              </a:lnSpc>
              <a:buNone/>
            </a:pPr>
            <a:r>
              <a:rPr lang="en-US" sz="731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HAL</a:t>
            </a:r>
            <a:endParaRPr lang="en-US" sz="731" dirty="0"/>
          </a:p>
        </p:txBody>
      </p:sp>
      <p:sp>
        <p:nvSpPr>
          <p:cNvPr id="43" name="Text 41"/>
          <p:cNvSpPr/>
          <p:nvPr/>
        </p:nvSpPr>
        <p:spPr>
          <a:xfrm>
            <a:off x="403622" y="2867769"/>
            <a:ext cx="4114800" cy="1278731"/>
          </a:xfrm>
          <a:prstGeom prst="roundRect">
            <a:avLst>
              <a:gd name="adj" fmla="val 10428"/>
            </a:avLst>
          </a:prstGeom>
          <a:solidFill>
            <a:srgbClr val="141A23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50069" y="2985641"/>
            <a:ext cx="3378101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spc="10" kern="0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WS Gateway</a:t>
            </a:r>
            <a:endParaRPr lang="en-US" sz="956" dirty="0"/>
          </a:p>
        </p:txBody>
      </p:sp>
      <p:sp>
        <p:nvSpPr>
          <p:cNvPr id="45" name="Text 43"/>
          <p:cNvSpPr/>
          <p:nvPr/>
        </p:nvSpPr>
        <p:spPr>
          <a:xfrm>
            <a:off x="3947565" y="2978712"/>
            <a:ext cx="440734" cy="196025"/>
          </a:xfrm>
          <a:prstGeom prst="roundRect">
            <a:avLst>
              <a:gd name="adj" fmla="val 4854215"/>
            </a:avLst>
          </a:prstGeom>
          <a:solidFill>
            <a:srgbClr val="4CC9F0">
              <a:alpha val="10000"/>
            </a:srgbClr>
          </a:solidFill>
          <a:ln w="7144">
            <a:solidFill>
              <a:srgbClr val="4CC9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3963888" y="2989213"/>
            <a:ext cx="40808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4CC9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:3003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50069" y="3360800"/>
            <a:ext cx="35719" cy="35719"/>
          </a:xfrm>
          <a:prstGeom prst="roundRect">
            <a:avLst>
              <a:gd name="adj" fmla="val 40000"/>
            </a:avLst>
          </a:prstGeom>
          <a:solidFill>
            <a:srgbClr val="FF6B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50081" y="3310793"/>
            <a:ext cx="3721894" cy="155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rosbridge</a:t>
            </a:r>
            <a:pPr algn="l" indent="0" marL="0">
              <a:lnSpc>
                <a:spcPts val="1240"/>
              </a:lnSpc>
              <a:buNone/>
            </a:pPr>
            <a:r>
              <a:rPr lang="en-US" sz="73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風格 </a:t>
            </a:r>
            <a:pPr algn="l" indent="0" marL="0">
              <a:lnSpc>
                <a:spcPts val="1240"/>
              </a:lnSpc>
              <a:buNone/>
            </a:pPr>
            <a:r>
              <a:rPr lang="en-US" sz="731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topic</a:t>
            </a:r>
            <a:pPr algn="l" indent="0" marL="0">
              <a:lnSpc>
                <a:spcPts val="1240"/>
              </a:lnSpc>
              <a:buNone/>
            </a:pPr>
            <a:r>
              <a:rPr lang="en-US" sz="73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訂閱</a:t>
            </a:r>
            <a:endParaRPr lang="en-US" sz="731" dirty="0"/>
          </a:p>
        </p:txBody>
      </p:sp>
      <p:sp>
        <p:nvSpPr>
          <p:cNvPr id="49" name="Text 47"/>
          <p:cNvSpPr/>
          <p:nvPr/>
        </p:nvSpPr>
        <p:spPr>
          <a:xfrm>
            <a:off x="550069" y="3604803"/>
            <a:ext cx="35719" cy="35719"/>
          </a:xfrm>
          <a:prstGeom prst="roundRect">
            <a:avLst>
              <a:gd name="adj" fmla="val 40000"/>
            </a:avLst>
          </a:prstGeom>
          <a:solidFill>
            <a:srgbClr val="FF6B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50081" y="3554797"/>
            <a:ext cx="3721894" cy="155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socket.io</a:t>
            </a:r>
            <a:pPr algn="l" indent="0" marL="0">
              <a:lnSpc>
                <a:spcPts val="1240"/>
              </a:lnSpc>
              <a:buNone/>
            </a:pPr>
            <a:r>
              <a:rPr lang="en-US" sz="73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240"/>
              </a:lnSpc>
              <a:buNone/>
            </a:pPr>
            <a:r>
              <a:rPr lang="en-US" sz="731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rooms</a:t>
            </a:r>
            <a:pPr algn="l" indent="0" marL="0">
              <a:lnSpc>
                <a:spcPts val="1240"/>
              </a:lnSpc>
              <a:buNone/>
            </a:pPr>
            <a:r>
              <a:rPr lang="en-US" sz="73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廣播</a:t>
            </a:r>
            <a:endParaRPr lang="en-US" sz="731" dirty="0"/>
          </a:p>
        </p:txBody>
      </p:sp>
      <p:sp>
        <p:nvSpPr>
          <p:cNvPr id="51" name="Text 49"/>
          <p:cNvSpPr/>
          <p:nvPr/>
        </p:nvSpPr>
        <p:spPr>
          <a:xfrm>
            <a:off x="550069" y="3848807"/>
            <a:ext cx="35719" cy="35719"/>
          </a:xfrm>
          <a:prstGeom prst="roundRect">
            <a:avLst>
              <a:gd name="adj" fmla="val 40000"/>
            </a:avLst>
          </a:prstGeom>
          <a:solidFill>
            <a:srgbClr val="FF6B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50081" y="3798801"/>
            <a:ext cx="3721894" cy="155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73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指令轉發帶 </a:t>
            </a:r>
            <a:pPr algn="l" indent="0" marL="0">
              <a:lnSpc>
                <a:spcPts val="1240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ack</a:t>
            </a:r>
            <a:endParaRPr lang="en-US" sz="731" dirty="0"/>
          </a:p>
        </p:txBody>
      </p:sp>
      <p:sp>
        <p:nvSpPr>
          <p:cNvPr id="53" name="Text 51"/>
          <p:cNvSpPr/>
          <p:nvPr/>
        </p:nvSpPr>
        <p:spPr>
          <a:xfrm>
            <a:off x="4625578" y="2867769"/>
            <a:ext cx="4114800" cy="1278731"/>
          </a:xfrm>
          <a:prstGeom prst="roundRect">
            <a:avLst>
              <a:gd name="adj" fmla="val 10428"/>
            </a:avLst>
          </a:prstGeom>
          <a:solidFill>
            <a:srgbClr val="141A23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4772025" y="3001714"/>
            <a:ext cx="3571875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spc="10" kern="0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Hardware</a:t>
            </a:r>
            <a:pPr algn="l" indent="0" marL="0">
              <a:lnSpc>
                <a:spcPts val="1434"/>
              </a:lnSpc>
              <a:buNone/>
            </a:pPr>
            <a:r>
              <a:rPr lang="en-US" sz="956" b="1" spc="10" kern="0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434"/>
              </a:lnSpc>
              <a:buNone/>
            </a:pPr>
            <a:r>
              <a:rPr lang="en-US" sz="956" b="1" spc="10" kern="0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Bridge</a:t>
            </a:r>
            <a:pPr algn="l" indent="0" marL="0">
              <a:lnSpc>
                <a:spcPts val="1434"/>
              </a:lnSpc>
              <a:buNone/>
            </a:pPr>
            <a:r>
              <a:rPr lang="en-US" sz="956" b="1" spc="10" kern="0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（部署包）</a:t>
            </a:r>
            <a:endParaRPr lang="en-US" sz="956" dirty="0"/>
          </a:p>
        </p:txBody>
      </p:sp>
      <p:sp>
        <p:nvSpPr>
          <p:cNvPr id="55" name="Text 53"/>
          <p:cNvSpPr/>
          <p:nvPr/>
        </p:nvSpPr>
        <p:spPr>
          <a:xfrm>
            <a:off x="8383191" y="2989213"/>
            <a:ext cx="207169" cy="207169"/>
          </a:xfrm>
          <a:prstGeom prst="roundRect">
            <a:avLst>
              <a:gd name="adj" fmla="val 41379"/>
            </a:avLst>
          </a:prstGeom>
          <a:solidFill>
            <a:srgbClr val="FF6B1A">
              <a:alpha val="12000"/>
            </a:srgbClr>
          </a:solidFill>
          <a:ln w="7144">
            <a:solidFill>
              <a:srgbClr val="FF6B1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8398728" y="3004751"/>
            <a:ext cx="176093" cy="1760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FF6B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195" dirty="0"/>
          </a:p>
        </p:txBody>
      </p:sp>
      <p:sp>
        <p:nvSpPr>
          <p:cNvPr id="57" name="Text 55"/>
          <p:cNvSpPr/>
          <p:nvPr/>
        </p:nvSpPr>
        <p:spPr>
          <a:xfrm>
            <a:off x="4772025" y="3384910"/>
            <a:ext cx="35719" cy="35719"/>
          </a:xfrm>
          <a:prstGeom prst="roundRect">
            <a:avLst>
              <a:gd name="adj" fmla="val 40000"/>
            </a:avLst>
          </a:prstGeom>
          <a:solidFill>
            <a:srgbClr val="FF6B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4872038" y="3334903"/>
            <a:ext cx="3721894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C++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772025" y="3620877"/>
            <a:ext cx="35719" cy="35719"/>
          </a:xfrm>
          <a:prstGeom prst="roundRect">
            <a:avLst>
              <a:gd name="adj" fmla="val 40000"/>
            </a:avLst>
          </a:prstGeom>
          <a:solidFill>
            <a:srgbClr val="FF6B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4872038" y="3570870"/>
            <a:ext cx="3721894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UDP JSON-RPC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772025" y="3856844"/>
            <a:ext cx="35719" cy="35719"/>
          </a:xfrm>
          <a:prstGeom prst="roundRect">
            <a:avLst>
              <a:gd name="adj" fmla="val 40000"/>
            </a:avLst>
          </a:prstGeom>
          <a:solidFill>
            <a:srgbClr val="FF6B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4872038" y="3806837"/>
            <a:ext cx="3721894" cy="155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731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SDK</a:t>
            </a:r>
            <a:pPr algn="l" indent="0" marL="0">
              <a:lnSpc>
                <a:spcPts val="1240"/>
              </a:lnSpc>
              <a:buNone/>
            </a:pPr>
            <a:r>
              <a:rPr lang="en-US" sz="73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對接點全部標註 </a:t>
            </a:r>
            <a:pPr algn="l" indent="0" marL="0">
              <a:lnSpc>
                <a:spcPts val="1240"/>
              </a:lnSpc>
              <a:buNone/>
            </a:pPr>
            <a:r>
              <a:rPr lang="en-US" sz="800" dirty="0">
                <a:solidFill>
                  <a:srgbClr val="FF6B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TODO(r1a_sdk)</a:t>
            </a:r>
            <a:endParaRPr lang="en-US" sz="731" dirty="0"/>
          </a:p>
        </p:txBody>
      </p:sp>
      <p:sp>
        <p:nvSpPr>
          <p:cNvPr id="63" name="Text 61"/>
          <p:cNvSpPr/>
          <p:nvPr/>
        </p:nvSpPr>
        <p:spPr>
          <a:xfrm>
            <a:off x="403622" y="4253657"/>
            <a:ext cx="8336756" cy="543371"/>
          </a:xfrm>
          <a:prstGeom prst="roundRect">
            <a:avLst>
              <a:gd name="adj" fmla="val 24541"/>
            </a:avLst>
          </a:prstGeom>
          <a:solidFill>
            <a:srgbClr val="141A23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564356" y="4323531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F6B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984" dirty="0"/>
          </a:p>
        </p:txBody>
      </p:sp>
      <p:sp>
        <p:nvSpPr>
          <p:cNvPr id="65" name="Text 63"/>
          <p:cNvSpPr/>
          <p:nvPr/>
        </p:nvSpPr>
        <p:spPr>
          <a:xfrm>
            <a:off x="714375" y="4314602"/>
            <a:ext cx="7865269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700" b="1" spc="99" kern="0" dirty="0">
                <a:solidFill>
                  <a:srgbClr val="97A3B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ROS</a:t>
            </a:r>
            <a:pPr algn="l" indent="0" marL="0">
              <a:lnSpc>
                <a:spcPts val="928"/>
              </a:lnSpc>
              <a:buNone/>
            </a:pPr>
            <a:r>
              <a:rPr lang="en-US" sz="700" b="1" spc="99" kern="0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928"/>
              </a:lnSpc>
              <a:buNone/>
            </a:pPr>
            <a:r>
              <a:rPr lang="en-US" sz="700" b="1" spc="99" kern="0" dirty="0">
                <a:solidFill>
                  <a:srgbClr val="97A3B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pPr algn="l" indent="0" marL="0">
              <a:lnSpc>
                <a:spcPts val="928"/>
              </a:lnSpc>
              <a:buNone/>
            </a:pPr>
            <a:r>
              <a:rPr lang="en-US" sz="700" b="1" spc="99" kern="0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概念映射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564356" y="4482480"/>
            <a:ext cx="412909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7A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topic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874105" y="4468192"/>
            <a:ext cx="9144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16" dirty="0">
                <a:solidFill>
                  <a:srgbClr val="FF6B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16" dirty="0"/>
          </a:p>
        </p:txBody>
      </p:sp>
      <p:sp>
        <p:nvSpPr>
          <p:cNvPr id="68" name="Text 66"/>
          <p:cNvSpPr/>
          <p:nvPr/>
        </p:nvSpPr>
        <p:spPr>
          <a:xfrm>
            <a:off x="988182" y="4482480"/>
            <a:ext cx="590428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 rooms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64356" y="4623569"/>
            <a:ext cx="2055994" cy="119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dirty="0">
                <a:solidFill>
                  <a:srgbClr val="97A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（/joint_states </a:t>
            </a:r>
            <a:pPr algn="l" indent="0" marL="0">
              <a:lnSpc>
                <a:spcPts val="886"/>
              </a:lnSpc>
              <a:buNone/>
            </a:pPr>
            <a:r>
              <a:rPr lang="en-US" sz="600" dirty="0">
                <a:solidFill>
                  <a:srgbClr val="FF6B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886"/>
              </a:lnSpc>
              <a:buNone/>
            </a:pPr>
            <a:r>
              <a:rPr lang="en-US" sz="600" dirty="0">
                <a:solidFill>
                  <a:srgbClr val="97A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/robot_state </a:t>
            </a:r>
            <a:pPr algn="l" indent="0" marL="0">
              <a:lnSpc>
                <a:spcPts val="886"/>
              </a:lnSpc>
              <a:buNone/>
            </a:pPr>
            <a:r>
              <a:rPr lang="en-US" sz="600" dirty="0">
                <a:solidFill>
                  <a:srgbClr val="FF6B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886"/>
              </a:lnSpc>
              <a:buNone/>
            </a:pPr>
            <a:r>
              <a:rPr lang="en-US" sz="600" dirty="0">
                <a:solidFill>
                  <a:srgbClr val="97A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/events）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2849575" y="4480694"/>
            <a:ext cx="7144" cy="228600"/>
          </a:xfrm>
          <a:prstGeom prst="rect">
            <a:avLst/>
          </a:prstGeom>
          <a:solidFill>
            <a:srgbClr val="FF6B1A">
              <a:alpha val="4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3238240" y="4545881"/>
            <a:ext cx="516684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7A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3651238" y="4531593"/>
            <a:ext cx="9144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16" dirty="0">
                <a:solidFill>
                  <a:srgbClr val="FF6B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16" dirty="0"/>
          </a:p>
        </p:txBody>
      </p:sp>
      <p:sp>
        <p:nvSpPr>
          <p:cNvPr id="73" name="Text 71"/>
          <p:cNvSpPr/>
          <p:nvPr/>
        </p:nvSpPr>
        <p:spPr>
          <a:xfrm>
            <a:off x="3762537" y="4545881"/>
            <a:ext cx="715325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 /api/*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4714652" y="4480694"/>
            <a:ext cx="7144" cy="228600"/>
          </a:xfrm>
          <a:prstGeom prst="rect">
            <a:avLst/>
          </a:prstGeom>
          <a:solidFill>
            <a:srgbClr val="FF6B1A">
              <a:alpha val="4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5103316" y="4545881"/>
            <a:ext cx="664331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7A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lifecycle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619564" y="4531593"/>
            <a:ext cx="9144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16" dirty="0">
                <a:solidFill>
                  <a:srgbClr val="FF6B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16" dirty="0"/>
          </a:p>
        </p:txBody>
      </p:sp>
      <p:sp>
        <p:nvSpPr>
          <p:cNvPr id="77" name="Text 75"/>
          <p:cNvSpPr/>
          <p:nvPr/>
        </p:nvSpPr>
        <p:spPr>
          <a:xfrm>
            <a:off x="5733641" y="4545881"/>
            <a:ext cx="129034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configure / activate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7147433" y="4480694"/>
            <a:ext cx="7144" cy="228600"/>
          </a:xfrm>
          <a:prstGeom prst="rect">
            <a:avLst/>
          </a:prstGeom>
          <a:solidFill>
            <a:srgbClr val="FF6B1A">
              <a:alpha val="4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7536098" y="4545881"/>
            <a:ext cx="664331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7A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parameter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8052346" y="4531593"/>
            <a:ext cx="9144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16" dirty="0">
                <a:solidFill>
                  <a:srgbClr val="FF6B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16" dirty="0"/>
          </a:p>
        </p:txBody>
      </p:sp>
      <p:sp>
        <p:nvSpPr>
          <p:cNvPr id="81" name="Text 79"/>
          <p:cNvSpPr/>
          <p:nvPr/>
        </p:nvSpPr>
        <p:spPr>
          <a:xfrm>
            <a:off x="8142570" y="4545881"/>
            <a:ext cx="460926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</a:t>
            </a:r>
            <a:endParaRPr lang="en-US" sz="6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3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8575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42913"/>
            <a:ext cx="7848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spc="169" kern="0" dirty="0">
                <a:solidFill>
                  <a:srgbClr val="FF6B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714375" y="1200150"/>
            <a:ext cx="2743914" cy="1308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40"/>
              </a:lnSpc>
              <a:buNone/>
            </a:pPr>
            <a:r>
              <a:rPr lang="en-US" sz="11925" b="1" spc="119" kern="0" dirty="0">
                <a:solidFill>
                  <a:srgbClr val="FF6B1A">
                    <a:alpha val="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1925" dirty="0"/>
          </a:p>
        </p:txBody>
      </p:sp>
      <p:sp>
        <p:nvSpPr>
          <p:cNvPr id="6" name="Text 2"/>
          <p:cNvSpPr/>
          <p:nvPr/>
        </p:nvSpPr>
        <p:spPr>
          <a:xfrm>
            <a:off x="2586484" y="1997348"/>
            <a:ext cx="1274825" cy="447485"/>
          </a:xfrm>
          <a:prstGeom prst="rect">
            <a:avLst/>
          </a:prstGeom>
          <a:noFill/>
          <a:ln/>
        </p:spPr>
        <p:txBody>
          <a:bodyPr wrap="none" lIns="0" tIns="0" rIns="0" bIns="85725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2588" dirty="0">
                <a:solidFill>
                  <a:srgbClr val="97A3B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02</a:t>
            </a:r>
            <a:endParaRPr lang="en-US" sz="2588" dirty="0"/>
          </a:p>
        </p:txBody>
      </p:sp>
      <p:sp>
        <p:nvSpPr>
          <p:cNvPr id="7" name="Text 3"/>
          <p:cNvSpPr/>
          <p:nvPr/>
        </p:nvSpPr>
        <p:spPr>
          <a:xfrm>
            <a:off x="714375" y="2683148"/>
            <a:ext cx="4028075" cy="545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76"/>
              </a:lnSpc>
              <a:buNone/>
            </a:pPr>
            <a:r>
              <a:rPr lang="en-US" sz="3488" b="1" spc="52" kern="0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系統設計與實現</a:t>
            </a:r>
            <a:endParaRPr lang="en-US" sz="3488" dirty="0"/>
          </a:p>
        </p:txBody>
      </p:sp>
      <p:sp>
        <p:nvSpPr>
          <p:cNvPr id="8" name="Text 4"/>
          <p:cNvSpPr/>
          <p:nvPr/>
        </p:nvSpPr>
        <p:spPr>
          <a:xfrm>
            <a:off x="714375" y="3330885"/>
            <a:ext cx="3650443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spc="57" kern="0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分層架構 · 三大功能支柱 · 安全內建於每一層</a:t>
            </a:r>
            <a:endParaRPr lang="en-US" sz="956" dirty="0"/>
          </a:p>
        </p:txBody>
      </p:sp>
      <p:sp>
        <p:nvSpPr>
          <p:cNvPr id="9" name="Text 5"/>
          <p:cNvSpPr/>
          <p:nvPr/>
        </p:nvSpPr>
        <p:spPr>
          <a:xfrm>
            <a:off x="5728841" y="4391320"/>
            <a:ext cx="732681" cy="307781"/>
          </a:xfrm>
          <a:prstGeom prst="roundRect">
            <a:avLst>
              <a:gd name="adj" fmla="val 3091638"/>
            </a:avLst>
          </a:prstGeom>
          <a:solidFill>
            <a:srgbClr val="1B2330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850285" y="4523780"/>
            <a:ext cx="42863" cy="42863"/>
          </a:xfrm>
          <a:prstGeom prst="roundRect">
            <a:avLst>
              <a:gd name="adj" fmla="val 66666"/>
            </a:avLst>
          </a:prstGeom>
          <a:solidFill>
            <a:srgbClr val="FF6B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728841" y="4404122"/>
            <a:ext cx="732681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731" spc="22" kern="0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系統架構</a:t>
            </a:r>
            <a:endParaRPr lang="en-US" sz="731" dirty="0"/>
          </a:p>
        </p:txBody>
      </p:sp>
      <p:sp>
        <p:nvSpPr>
          <p:cNvPr id="12" name="Text 8"/>
          <p:cNvSpPr/>
          <p:nvPr/>
        </p:nvSpPr>
        <p:spPr>
          <a:xfrm>
            <a:off x="6547247" y="4391320"/>
            <a:ext cx="981261" cy="307781"/>
          </a:xfrm>
          <a:prstGeom prst="roundRect">
            <a:avLst>
              <a:gd name="adj" fmla="val 3091638"/>
            </a:avLst>
          </a:prstGeom>
          <a:solidFill>
            <a:srgbClr val="1B2330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6668691" y="4523780"/>
            <a:ext cx="42863" cy="42863"/>
          </a:xfrm>
          <a:prstGeom prst="roundRect">
            <a:avLst>
              <a:gd name="adj" fmla="val 66666"/>
            </a:avLst>
          </a:prstGeom>
          <a:solidFill>
            <a:srgbClr val="FF6B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6547247" y="4404122"/>
            <a:ext cx="981261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731" spc="22" kern="0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即時控制與 </a:t>
            </a:r>
            <a:pPr algn="ctr" indent="0" marL="0">
              <a:lnSpc>
                <a:spcPts val="1097"/>
              </a:lnSpc>
              <a:buNone/>
            </a:pPr>
            <a:r>
              <a:rPr lang="en-US" sz="731" spc="22" kern="0" dirty="0">
                <a:solidFill>
                  <a:srgbClr val="E8EDF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3D</a:t>
            </a:r>
            <a:endParaRPr lang="en-US" sz="731" dirty="0"/>
          </a:p>
        </p:txBody>
      </p:sp>
      <p:sp>
        <p:nvSpPr>
          <p:cNvPr id="15" name="Text 11"/>
          <p:cNvSpPr/>
          <p:nvPr/>
        </p:nvSpPr>
        <p:spPr>
          <a:xfrm>
            <a:off x="7614233" y="4391320"/>
            <a:ext cx="1072567" cy="307781"/>
          </a:xfrm>
          <a:prstGeom prst="roundRect">
            <a:avLst>
              <a:gd name="adj" fmla="val 3091638"/>
            </a:avLst>
          </a:prstGeom>
          <a:solidFill>
            <a:srgbClr val="1B2330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7735677" y="4523780"/>
            <a:ext cx="42863" cy="42863"/>
          </a:xfrm>
          <a:prstGeom prst="roundRect">
            <a:avLst>
              <a:gd name="adj" fmla="val 66666"/>
            </a:avLst>
          </a:prstGeom>
          <a:solidFill>
            <a:srgbClr val="FF6B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7614233" y="4404122"/>
            <a:ext cx="1072567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731" spc="22" kern="0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軌跡 · 安全 · </a:t>
            </a:r>
            <a:pPr algn="ctr" indent="0" marL="0">
              <a:lnSpc>
                <a:spcPts val="1097"/>
              </a:lnSpc>
              <a:buNone/>
            </a:pPr>
            <a:r>
              <a:rPr lang="en-US" sz="731" spc="22" kern="0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</a:t>
            </a:r>
            <a:endParaRPr lang="en-US" sz="73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385763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spc="169" kern="0" dirty="0">
                <a:solidFill>
                  <a:srgbClr val="FF6B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· 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00050" y="584002"/>
            <a:ext cx="8636000" cy="33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2138" b="1" spc="21" kern="0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五層分離，單向數據流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403622" y="1373163"/>
            <a:ext cx="5164931" cy="535781"/>
          </a:xfrm>
          <a:prstGeom prst="roundRect">
            <a:avLst>
              <a:gd name="adj" fmla="val 24889"/>
            </a:avLst>
          </a:prstGeom>
          <a:solidFill>
            <a:srgbClr val="141A23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9353" y="1523181"/>
            <a:ext cx="235744" cy="235744"/>
          </a:xfrm>
          <a:prstGeom prst="roundRect">
            <a:avLst>
              <a:gd name="adj" fmla="val 36364"/>
            </a:avLst>
          </a:prstGeom>
          <a:noFill/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5781" y="1519610"/>
            <a:ext cx="29289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97A3B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72277" y="1552649"/>
            <a:ext cx="923078" cy="19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b="1" spc="9" kern="0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Presentation</a:t>
            </a:r>
            <a:endParaRPr lang="en-US" sz="928" dirty="0"/>
          </a:p>
        </p:txBody>
      </p:sp>
      <p:sp>
        <p:nvSpPr>
          <p:cNvPr id="8" name="Text 6"/>
          <p:cNvSpPr/>
          <p:nvPr/>
        </p:nvSpPr>
        <p:spPr>
          <a:xfrm>
            <a:off x="1706910" y="1526753"/>
            <a:ext cx="7144" cy="228600"/>
          </a:xfrm>
          <a:prstGeom prst="rect">
            <a:avLst/>
          </a:prstGeom>
          <a:solidFill>
            <a:srgbClr val="2A3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814066" y="1526039"/>
            <a:ext cx="494035" cy="230029"/>
          </a:xfrm>
          <a:prstGeom prst="roundRect">
            <a:avLst>
              <a:gd name="adj" fmla="val 4136641"/>
            </a:avLst>
          </a:prstGeom>
          <a:solidFill>
            <a:srgbClr val="1B2330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814066" y="1538362"/>
            <a:ext cx="494035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 UI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358107" y="1526039"/>
            <a:ext cx="494035" cy="230029"/>
          </a:xfrm>
          <a:prstGeom prst="roundRect">
            <a:avLst>
              <a:gd name="adj" fmla="val 4136641"/>
            </a:avLst>
          </a:prstGeom>
          <a:solidFill>
            <a:srgbClr val="1B2330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358107" y="1538362"/>
            <a:ext cx="494035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 tabs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902148" y="1526039"/>
            <a:ext cx="542925" cy="230029"/>
          </a:xfrm>
          <a:prstGeom prst="roundRect">
            <a:avLst>
              <a:gd name="adj" fmla="val 4136641"/>
            </a:avLst>
          </a:prstGeom>
          <a:solidFill>
            <a:srgbClr val="1B2330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902148" y="1538362"/>
            <a:ext cx="542925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即時遙測</a:t>
            </a:r>
            <a:endParaRPr lang="en-US" sz="703" dirty="0"/>
          </a:p>
        </p:txBody>
      </p:sp>
      <p:sp>
        <p:nvSpPr>
          <p:cNvPr id="15" name="Text 13"/>
          <p:cNvSpPr/>
          <p:nvPr/>
        </p:nvSpPr>
        <p:spPr>
          <a:xfrm>
            <a:off x="3495080" y="1526039"/>
            <a:ext cx="518480" cy="230029"/>
          </a:xfrm>
          <a:prstGeom prst="roundRect">
            <a:avLst>
              <a:gd name="adj" fmla="val 4136641"/>
            </a:avLst>
          </a:prstGeom>
          <a:solidFill>
            <a:srgbClr val="1B2330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495080" y="1538362"/>
            <a:ext cx="518480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E8EDF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3D</a:t>
            </a:r>
            <a:pPr algn="ctr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渲染</a:t>
            </a:r>
            <a:endParaRPr lang="en-US" sz="703" dirty="0"/>
          </a:p>
        </p:txBody>
      </p:sp>
      <p:sp>
        <p:nvSpPr>
          <p:cNvPr id="17" name="Text 15"/>
          <p:cNvSpPr/>
          <p:nvPr/>
        </p:nvSpPr>
        <p:spPr>
          <a:xfrm>
            <a:off x="2950369" y="1891085"/>
            <a:ext cx="9144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6B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▾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403622" y="2016100"/>
            <a:ext cx="5164931" cy="535781"/>
          </a:xfrm>
          <a:prstGeom prst="roundRect">
            <a:avLst>
              <a:gd name="adj" fmla="val 24889"/>
            </a:avLst>
          </a:prstGeom>
          <a:solidFill>
            <a:srgbClr val="141A23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39353" y="2166119"/>
            <a:ext cx="235744" cy="235744"/>
          </a:xfrm>
          <a:prstGeom prst="roundRect">
            <a:avLst>
              <a:gd name="adj" fmla="val 36364"/>
            </a:avLst>
          </a:prstGeom>
          <a:noFill/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35781" y="2162547"/>
            <a:ext cx="29289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97A3B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78681" y="2195587"/>
            <a:ext cx="908875" cy="19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b="1" spc="9" kern="0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Gateway</a:t>
            </a:r>
            <a:endParaRPr lang="en-US" sz="928" dirty="0"/>
          </a:p>
        </p:txBody>
      </p:sp>
      <p:sp>
        <p:nvSpPr>
          <p:cNvPr id="22" name="Text 20"/>
          <p:cNvSpPr/>
          <p:nvPr/>
        </p:nvSpPr>
        <p:spPr>
          <a:xfrm>
            <a:off x="1705794" y="2169691"/>
            <a:ext cx="7144" cy="228600"/>
          </a:xfrm>
          <a:prstGeom prst="rect">
            <a:avLst/>
          </a:prstGeom>
          <a:solidFill>
            <a:srgbClr val="2A3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812950" y="2168976"/>
            <a:ext cx="762930" cy="230029"/>
          </a:xfrm>
          <a:prstGeom prst="roundRect">
            <a:avLst>
              <a:gd name="adj" fmla="val 4136641"/>
            </a:avLst>
          </a:prstGeom>
          <a:solidFill>
            <a:srgbClr val="1B2330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812950" y="2181299"/>
            <a:ext cx="762930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 /api/*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625886" y="2168976"/>
            <a:ext cx="655327" cy="230029"/>
          </a:xfrm>
          <a:prstGeom prst="roundRect">
            <a:avLst>
              <a:gd name="adj" fmla="val 4136641"/>
            </a:avLst>
          </a:prstGeom>
          <a:solidFill>
            <a:srgbClr val="1B2330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625886" y="2181299"/>
            <a:ext cx="655327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 topics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331220" y="2168976"/>
            <a:ext cx="894866" cy="230029"/>
          </a:xfrm>
          <a:prstGeom prst="roundRect">
            <a:avLst>
              <a:gd name="adj" fmla="val 4136641"/>
            </a:avLst>
          </a:prstGeom>
          <a:solidFill>
            <a:srgbClr val="1B2330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331220" y="2181299"/>
            <a:ext cx="894866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X-API-Key</a:t>
            </a:r>
            <a:pPr algn="ctr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認證</a:t>
            </a:r>
            <a:endParaRPr lang="en-US" sz="703" dirty="0"/>
          </a:p>
        </p:txBody>
      </p:sp>
      <p:sp>
        <p:nvSpPr>
          <p:cNvPr id="29" name="Text 27"/>
          <p:cNvSpPr/>
          <p:nvPr/>
        </p:nvSpPr>
        <p:spPr>
          <a:xfrm>
            <a:off x="4276092" y="2168976"/>
            <a:ext cx="542925" cy="230029"/>
          </a:xfrm>
          <a:prstGeom prst="roundRect">
            <a:avLst>
              <a:gd name="adj" fmla="val 4136641"/>
            </a:avLst>
          </a:prstGeom>
          <a:solidFill>
            <a:srgbClr val="1B2330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276092" y="2181299"/>
            <a:ext cx="542925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審計入庫</a:t>
            </a:r>
            <a:endParaRPr lang="en-US" sz="703" dirty="0"/>
          </a:p>
        </p:txBody>
      </p:sp>
      <p:sp>
        <p:nvSpPr>
          <p:cNvPr id="31" name="Text 29"/>
          <p:cNvSpPr/>
          <p:nvPr/>
        </p:nvSpPr>
        <p:spPr>
          <a:xfrm>
            <a:off x="2950369" y="2534022"/>
            <a:ext cx="9144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6B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▾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403622" y="2659038"/>
            <a:ext cx="5164931" cy="535781"/>
          </a:xfrm>
          <a:prstGeom prst="roundRect">
            <a:avLst>
              <a:gd name="adj" fmla="val 24889"/>
            </a:avLst>
          </a:prstGeom>
          <a:solidFill>
            <a:srgbClr val="141A23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39353" y="2809056"/>
            <a:ext cx="235744" cy="235744"/>
          </a:xfrm>
          <a:prstGeom prst="roundRect">
            <a:avLst>
              <a:gd name="adj" fmla="val 36364"/>
            </a:avLst>
          </a:prstGeom>
          <a:noFill/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35781" y="2805485"/>
            <a:ext cx="29289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97A3B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L3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78681" y="2838524"/>
            <a:ext cx="1111188" cy="19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b="1" spc="9" kern="0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Control Service</a:t>
            </a:r>
            <a:endParaRPr lang="en-US" sz="928" dirty="0"/>
          </a:p>
        </p:txBody>
      </p:sp>
      <p:sp>
        <p:nvSpPr>
          <p:cNvPr id="36" name="Text 34"/>
          <p:cNvSpPr/>
          <p:nvPr/>
        </p:nvSpPr>
        <p:spPr>
          <a:xfrm>
            <a:off x="1867644" y="2812628"/>
            <a:ext cx="7144" cy="228600"/>
          </a:xfrm>
          <a:prstGeom prst="rect">
            <a:avLst/>
          </a:prstGeom>
          <a:solidFill>
            <a:srgbClr val="2A3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974800" y="2811914"/>
            <a:ext cx="924111" cy="230029"/>
          </a:xfrm>
          <a:prstGeom prst="roundRect">
            <a:avLst>
              <a:gd name="adj" fmla="val 4136641"/>
            </a:avLst>
          </a:prstGeom>
          <a:solidFill>
            <a:srgbClr val="1B2330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974800" y="2824237"/>
            <a:ext cx="924111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Lifecycle Node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948918" y="2811914"/>
            <a:ext cx="450056" cy="230029"/>
          </a:xfrm>
          <a:prstGeom prst="roundRect">
            <a:avLst>
              <a:gd name="adj" fmla="val 4136641"/>
            </a:avLst>
          </a:prstGeom>
          <a:solidFill>
            <a:srgbClr val="1B2330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2948918" y="2824237"/>
            <a:ext cx="450056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安全層</a:t>
            </a:r>
            <a:endParaRPr lang="en-US" sz="703" dirty="0"/>
          </a:p>
        </p:txBody>
      </p:sp>
      <p:sp>
        <p:nvSpPr>
          <p:cNvPr id="41" name="Text 39"/>
          <p:cNvSpPr/>
          <p:nvPr/>
        </p:nvSpPr>
        <p:spPr>
          <a:xfrm>
            <a:off x="3448980" y="2811914"/>
            <a:ext cx="542925" cy="230029"/>
          </a:xfrm>
          <a:prstGeom prst="roundRect">
            <a:avLst>
              <a:gd name="adj" fmla="val 4136641"/>
            </a:avLst>
          </a:prstGeom>
          <a:solidFill>
            <a:srgbClr val="1B2330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448980" y="2824237"/>
            <a:ext cx="542925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餘弦插補</a:t>
            </a:r>
            <a:endParaRPr lang="en-US" sz="703" dirty="0"/>
          </a:p>
        </p:txBody>
      </p:sp>
      <p:sp>
        <p:nvSpPr>
          <p:cNvPr id="43" name="Text 41"/>
          <p:cNvSpPr/>
          <p:nvPr/>
        </p:nvSpPr>
        <p:spPr>
          <a:xfrm>
            <a:off x="4041911" y="2811914"/>
            <a:ext cx="542925" cy="230029"/>
          </a:xfrm>
          <a:prstGeom prst="roundRect">
            <a:avLst>
              <a:gd name="adj" fmla="val 4136641"/>
            </a:avLst>
          </a:prstGeom>
          <a:solidFill>
            <a:srgbClr val="1B2330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041911" y="2824237"/>
            <a:ext cx="542925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回放引擎</a:t>
            </a:r>
            <a:endParaRPr lang="en-US" sz="703" dirty="0"/>
          </a:p>
        </p:txBody>
      </p:sp>
      <p:sp>
        <p:nvSpPr>
          <p:cNvPr id="45" name="Text 43"/>
          <p:cNvSpPr/>
          <p:nvPr/>
        </p:nvSpPr>
        <p:spPr>
          <a:xfrm>
            <a:off x="2950369" y="3176960"/>
            <a:ext cx="9144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6B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▾</a:t>
            </a:r>
            <a:endParaRPr lang="en-US" sz="1125" dirty="0"/>
          </a:p>
        </p:txBody>
      </p:sp>
      <p:sp>
        <p:nvSpPr>
          <p:cNvPr id="46" name="Text 44"/>
          <p:cNvSpPr/>
          <p:nvPr/>
        </p:nvSpPr>
        <p:spPr>
          <a:xfrm>
            <a:off x="403622" y="3301975"/>
            <a:ext cx="5164931" cy="535781"/>
          </a:xfrm>
          <a:prstGeom prst="roundRect">
            <a:avLst>
              <a:gd name="adj" fmla="val 24889"/>
            </a:avLst>
          </a:prstGeom>
          <a:solidFill>
            <a:srgbClr val="141A23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39353" y="3451994"/>
            <a:ext cx="235744" cy="235744"/>
          </a:xfrm>
          <a:prstGeom prst="roundRect">
            <a:avLst>
              <a:gd name="adj" fmla="val 36364"/>
            </a:avLst>
          </a:prstGeom>
          <a:noFill/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35781" y="3448422"/>
            <a:ext cx="29289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97A3B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L4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78681" y="3481462"/>
            <a:ext cx="1098492" cy="19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b="1" spc="9" kern="0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HAL</a:t>
            </a:r>
            <a:pPr algn="l" indent="0" marL="0">
              <a:lnSpc>
                <a:spcPts val="1392"/>
              </a:lnSpc>
              <a:buNone/>
            </a:pPr>
            <a:r>
              <a:rPr lang="en-US" sz="928" b="1" spc="9" kern="0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硬體抽象</a:t>
            </a:r>
            <a:endParaRPr lang="en-US" sz="928" dirty="0"/>
          </a:p>
        </p:txBody>
      </p:sp>
      <p:sp>
        <p:nvSpPr>
          <p:cNvPr id="50" name="Text 48"/>
          <p:cNvSpPr/>
          <p:nvPr/>
        </p:nvSpPr>
        <p:spPr>
          <a:xfrm>
            <a:off x="1746870" y="3455566"/>
            <a:ext cx="7144" cy="228600"/>
          </a:xfrm>
          <a:prstGeom prst="rect">
            <a:avLst/>
          </a:prstGeom>
          <a:solidFill>
            <a:srgbClr val="2A3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1854026" y="3502893"/>
            <a:ext cx="59436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三驅動：</a:t>
            </a:r>
            <a:endParaRPr lang="en-US" sz="703" dirty="0"/>
          </a:p>
        </p:txBody>
      </p:sp>
      <p:sp>
        <p:nvSpPr>
          <p:cNvPr id="52" name="Text 50"/>
          <p:cNvSpPr/>
          <p:nvPr/>
        </p:nvSpPr>
        <p:spPr>
          <a:xfrm>
            <a:off x="2275508" y="3454851"/>
            <a:ext cx="709129" cy="230029"/>
          </a:xfrm>
          <a:prstGeom prst="roundRect">
            <a:avLst>
              <a:gd name="adj" fmla="val 4136641"/>
            </a:avLst>
          </a:prstGeom>
          <a:solidFill>
            <a:srgbClr val="1B2330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2275508" y="3467174"/>
            <a:ext cx="709129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simulation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3034643" y="3454851"/>
            <a:ext cx="494035" cy="230029"/>
          </a:xfrm>
          <a:prstGeom prst="roundRect">
            <a:avLst>
              <a:gd name="adj" fmla="val 4136641"/>
            </a:avLst>
          </a:prstGeom>
          <a:solidFill>
            <a:srgbClr val="1B2330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3034643" y="3467174"/>
            <a:ext cx="494035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serial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3578684" y="3454851"/>
            <a:ext cx="494035" cy="230029"/>
          </a:xfrm>
          <a:prstGeom prst="roundRect">
            <a:avLst>
              <a:gd name="adj" fmla="val 4136641"/>
            </a:avLst>
          </a:prstGeom>
          <a:solidFill>
            <a:srgbClr val="1B2330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3578684" y="3467174"/>
            <a:ext cx="494035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bridge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122725" y="3502893"/>
            <a:ext cx="1313669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（統一介面，切換零改碼）</a:t>
            </a:r>
            <a:endParaRPr lang="en-US" sz="703" dirty="0"/>
          </a:p>
        </p:txBody>
      </p:sp>
      <p:sp>
        <p:nvSpPr>
          <p:cNvPr id="59" name="Text 57"/>
          <p:cNvSpPr/>
          <p:nvPr/>
        </p:nvSpPr>
        <p:spPr>
          <a:xfrm>
            <a:off x="2950369" y="3819897"/>
            <a:ext cx="9144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6B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▾</a:t>
            </a:r>
            <a:endParaRPr lang="en-US" sz="1125" dirty="0"/>
          </a:p>
        </p:txBody>
      </p:sp>
      <p:sp>
        <p:nvSpPr>
          <p:cNvPr id="60" name="Text 58"/>
          <p:cNvSpPr/>
          <p:nvPr/>
        </p:nvSpPr>
        <p:spPr>
          <a:xfrm>
            <a:off x="403622" y="3944913"/>
            <a:ext cx="5164931" cy="535781"/>
          </a:xfrm>
          <a:prstGeom prst="roundRect">
            <a:avLst>
              <a:gd name="adj" fmla="val 24889"/>
            </a:avLst>
          </a:prstGeom>
          <a:solidFill>
            <a:srgbClr val="141A23"/>
          </a:solidFill>
          <a:ln w="7144">
            <a:solidFill>
              <a:srgbClr val="FF6B1A"/>
            </a:solidFill>
            <a:prstDash val="solid"/>
          </a:ln>
          <a:effectLst>
            <a:outerShdw sx="100000" sy="100000" kx="0" ky="0" algn="bl" rotWithShape="0" blurRad="101600" dist="50800" dir="16200000">
              <a:srgbClr val="FF6B1A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539353" y="4094931"/>
            <a:ext cx="235744" cy="235744"/>
          </a:xfrm>
          <a:prstGeom prst="roundRect">
            <a:avLst>
              <a:gd name="adj" fmla="val 36364"/>
            </a:avLst>
          </a:prstGeom>
          <a:solidFill>
            <a:srgbClr val="FF6B1A">
              <a:alpha val="12000"/>
            </a:srgbClr>
          </a:solidFill>
          <a:ln w="7144">
            <a:solidFill>
              <a:srgbClr val="FF6B1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535781" y="4091360"/>
            <a:ext cx="29289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FF6B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L5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878681" y="4124399"/>
            <a:ext cx="781810" cy="19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b="1" spc="9" kern="0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Hardware</a:t>
            </a:r>
            <a:endParaRPr lang="en-US" sz="928" dirty="0"/>
          </a:p>
        </p:txBody>
      </p:sp>
      <p:sp>
        <p:nvSpPr>
          <p:cNvPr id="64" name="Text 62"/>
          <p:cNvSpPr/>
          <p:nvPr/>
        </p:nvSpPr>
        <p:spPr>
          <a:xfrm>
            <a:off x="1525414" y="4098503"/>
            <a:ext cx="7144" cy="228600"/>
          </a:xfrm>
          <a:prstGeom prst="rect">
            <a:avLst/>
          </a:prstGeom>
          <a:solidFill>
            <a:srgbClr val="2A3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1632570" y="4097789"/>
            <a:ext cx="655327" cy="230029"/>
          </a:xfrm>
          <a:prstGeom prst="roundRect">
            <a:avLst>
              <a:gd name="adj" fmla="val 4136641"/>
            </a:avLst>
          </a:prstGeom>
          <a:solidFill>
            <a:srgbClr val="1B2330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1632570" y="4110112"/>
            <a:ext cx="655327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R1-7A SDK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2337904" y="4097789"/>
            <a:ext cx="709129" cy="230029"/>
          </a:xfrm>
          <a:prstGeom prst="roundRect">
            <a:avLst>
              <a:gd name="adj" fmla="val 4136641"/>
            </a:avLst>
          </a:prstGeom>
          <a:solidFill>
            <a:srgbClr val="1B2330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2337904" y="4110112"/>
            <a:ext cx="709129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C++ Bridge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3097039" y="4097789"/>
            <a:ext cx="1354299" cy="230029"/>
          </a:xfrm>
          <a:prstGeom prst="roundRect">
            <a:avLst>
              <a:gd name="adj" fmla="val 4136641"/>
            </a:avLst>
          </a:prstGeom>
          <a:solidFill>
            <a:srgbClr val="1B2330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3097039" y="4110112"/>
            <a:ext cx="1354299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/dev/ttyUSB0 @ 6 Mbaud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757863" y="1091654"/>
            <a:ext cx="28575" cy="107156"/>
          </a:xfrm>
          <a:prstGeom prst="roundRect">
            <a:avLst>
              <a:gd name="adj" fmla="val 66667"/>
            </a:avLst>
          </a:prstGeom>
          <a:solidFill>
            <a:srgbClr val="FF6B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5857875" y="1067544"/>
            <a:ext cx="2886075" cy="16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b="1" spc="41" kern="0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三個關鍵設計決策</a:t>
            </a:r>
            <a:endParaRPr lang="en-US" sz="816" dirty="0"/>
          </a:p>
        </p:txBody>
      </p:sp>
      <p:sp>
        <p:nvSpPr>
          <p:cNvPr id="73" name="Text 71"/>
          <p:cNvSpPr/>
          <p:nvPr/>
        </p:nvSpPr>
        <p:spPr>
          <a:xfrm>
            <a:off x="5761434" y="1312218"/>
            <a:ext cx="2978944" cy="1066316"/>
          </a:xfrm>
          <a:prstGeom prst="roundRect">
            <a:avLst>
              <a:gd name="adj" fmla="val 12506"/>
            </a:avLst>
          </a:prstGeom>
          <a:solidFill>
            <a:srgbClr val="141A23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5897166" y="1632347"/>
            <a:ext cx="221456" cy="221456"/>
          </a:xfrm>
          <a:prstGeom prst="roundRect">
            <a:avLst>
              <a:gd name="adj" fmla="val 38710"/>
            </a:avLst>
          </a:prstGeom>
          <a:solidFill>
            <a:srgbClr val="FF6B1A">
              <a:alpha val="12000"/>
            </a:srgbClr>
          </a:solidFill>
          <a:ln w="7144">
            <a:solidFill>
              <a:srgbClr val="FF6B1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5919847" y="1655028"/>
            <a:ext cx="176093" cy="1760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FF6B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1195" dirty="0"/>
          </a:p>
        </p:txBody>
      </p:sp>
      <p:sp>
        <p:nvSpPr>
          <p:cNvPr id="76" name="Text 74"/>
          <p:cNvSpPr/>
          <p:nvPr/>
        </p:nvSpPr>
        <p:spPr>
          <a:xfrm>
            <a:off x="6200775" y="1662708"/>
            <a:ext cx="2407444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三驅動 </a:t>
            </a:r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HAL</a:t>
            </a:r>
            <a:endParaRPr lang="en-US" sz="844" dirty="0"/>
          </a:p>
        </p:txBody>
      </p:sp>
      <p:sp>
        <p:nvSpPr>
          <p:cNvPr id="77" name="Text 75"/>
          <p:cNvSpPr/>
          <p:nvPr/>
        </p:nvSpPr>
        <p:spPr>
          <a:xfrm>
            <a:off x="5893594" y="1914525"/>
            <a:ext cx="2714625" cy="159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沙盒跑 </a:t>
            </a:r>
            <a:pPr algn="l" indent="0" marL="0">
              <a:lnSpc>
                <a:spcPts val="1320"/>
              </a:lnSpc>
              <a:buNone/>
            </a:pPr>
            <a:r>
              <a:rPr lang="en-US" sz="800" dirty="0">
                <a:solidFill>
                  <a:srgbClr val="97A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simulation</a:t>
            </a:r>
            <a:pPr algn="l" indent="0" marL="0">
              <a:lnSpc>
                <a:spcPts val="132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、真機跑 </a:t>
            </a:r>
            <a:pPr algn="l" indent="0" marL="0">
              <a:lnSpc>
                <a:spcPts val="1320"/>
              </a:lnSpc>
              <a:buNone/>
            </a:pPr>
            <a:r>
              <a:rPr lang="en-US" sz="800" dirty="0">
                <a:solidFill>
                  <a:srgbClr val="97A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bridge</a:t>
            </a:r>
            <a:pPr algn="l" indent="0" marL="0">
              <a:lnSpc>
                <a:spcPts val="132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，切換只動配置不動代碼</a:t>
            </a:r>
            <a:endParaRPr lang="en-US" sz="703" dirty="0"/>
          </a:p>
        </p:txBody>
      </p:sp>
      <p:sp>
        <p:nvSpPr>
          <p:cNvPr id="78" name="Text 76"/>
          <p:cNvSpPr/>
          <p:nvPr/>
        </p:nvSpPr>
        <p:spPr>
          <a:xfrm>
            <a:off x="5761434" y="2514265"/>
            <a:ext cx="2978944" cy="1066316"/>
          </a:xfrm>
          <a:prstGeom prst="roundRect">
            <a:avLst>
              <a:gd name="adj" fmla="val 12506"/>
            </a:avLst>
          </a:prstGeom>
          <a:solidFill>
            <a:srgbClr val="141A23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5897166" y="2834394"/>
            <a:ext cx="221456" cy="221456"/>
          </a:xfrm>
          <a:prstGeom prst="roundRect">
            <a:avLst>
              <a:gd name="adj" fmla="val 38710"/>
            </a:avLst>
          </a:prstGeom>
          <a:solidFill>
            <a:srgbClr val="FF6B1A">
              <a:alpha val="12000"/>
            </a:srgbClr>
          </a:solidFill>
          <a:ln w="7144">
            <a:solidFill>
              <a:srgbClr val="FF6B1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5919847" y="2857076"/>
            <a:ext cx="176093" cy="1760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FF6B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195" dirty="0"/>
          </a:p>
        </p:txBody>
      </p:sp>
      <p:sp>
        <p:nvSpPr>
          <p:cNvPr id="81" name="Text 79"/>
          <p:cNvSpPr/>
          <p:nvPr/>
        </p:nvSpPr>
        <p:spPr>
          <a:xfrm>
            <a:off x="6200775" y="2864755"/>
            <a:ext cx="2407444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單向數據流</a:t>
            </a:r>
            <a:endParaRPr lang="en-US" sz="844" dirty="0"/>
          </a:p>
        </p:txBody>
      </p:sp>
      <p:sp>
        <p:nvSpPr>
          <p:cNvPr id="82" name="Text 80"/>
          <p:cNvSpPr/>
          <p:nvPr/>
        </p:nvSpPr>
        <p:spPr>
          <a:xfrm>
            <a:off x="5893594" y="3116573"/>
            <a:ext cx="2714625" cy="159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遙測 </a:t>
            </a:r>
            <a:pPr algn="l" indent="0" marL="0">
              <a:lnSpc>
                <a:spcPts val="1320"/>
              </a:lnSpc>
              <a:buNone/>
            </a:pPr>
            <a:r>
              <a:rPr lang="en-US" sz="800" dirty="0">
                <a:solidFill>
                  <a:srgbClr val="97A3B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50Hz</a:t>
            </a:r>
            <a:pPr algn="l" indent="0" marL="0">
              <a:lnSpc>
                <a:spcPts val="132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上行、指令下行必經安全層，路徑唯一可審計</a:t>
            </a:r>
            <a:endParaRPr lang="en-US" sz="703" dirty="0"/>
          </a:p>
        </p:txBody>
      </p:sp>
      <p:sp>
        <p:nvSpPr>
          <p:cNvPr id="83" name="Text 81"/>
          <p:cNvSpPr/>
          <p:nvPr/>
        </p:nvSpPr>
        <p:spPr>
          <a:xfrm>
            <a:off x="5761434" y="3716313"/>
            <a:ext cx="2978944" cy="1066316"/>
          </a:xfrm>
          <a:prstGeom prst="roundRect">
            <a:avLst>
              <a:gd name="adj" fmla="val 12506"/>
            </a:avLst>
          </a:prstGeom>
          <a:solidFill>
            <a:srgbClr val="141A23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Text 82"/>
          <p:cNvSpPr/>
          <p:nvPr/>
        </p:nvSpPr>
        <p:spPr>
          <a:xfrm>
            <a:off x="5897166" y="4036442"/>
            <a:ext cx="221456" cy="221456"/>
          </a:xfrm>
          <a:prstGeom prst="roundRect">
            <a:avLst>
              <a:gd name="adj" fmla="val 38710"/>
            </a:avLst>
          </a:prstGeom>
          <a:solidFill>
            <a:srgbClr val="FF6B1A">
              <a:alpha val="12000"/>
            </a:srgbClr>
          </a:solidFill>
          <a:ln w="7144">
            <a:solidFill>
              <a:srgbClr val="FF6B1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Text 83"/>
          <p:cNvSpPr/>
          <p:nvPr/>
        </p:nvSpPr>
        <p:spPr>
          <a:xfrm>
            <a:off x="5919847" y="4059123"/>
            <a:ext cx="176093" cy="1760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FF6B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lang="en-US" sz="1195" dirty="0"/>
          </a:p>
        </p:txBody>
      </p:sp>
      <p:sp>
        <p:nvSpPr>
          <p:cNvPr id="86" name="Text 84"/>
          <p:cNvSpPr/>
          <p:nvPr/>
        </p:nvSpPr>
        <p:spPr>
          <a:xfrm>
            <a:off x="6200775" y="4066803"/>
            <a:ext cx="2407444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模組單例回放</a:t>
            </a:r>
            <a:endParaRPr lang="en-US" sz="844" dirty="0"/>
          </a:p>
        </p:txBody>
      </p:sp>
      <p:sp>
        <p:nvSpPr>
          <p:cNvPr id="87" name="Text 85"/>
          <p:cNvSpPr/>
          <p:nvPr/>
        </p:nvSpPr>
        <p:spPr>
          <a:xfrm>
            <a:off x="5893594" y="4318620"/>
            <a:ext cx="2714625" cy="159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單進程單回放，</a:t>
            </a:r>
            <a:pPr algn="l" indent="0" marL="0">
              <a:lnSpc>
                <a:spcPts val="116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E-stop</a:t>
            </a:r>
            <a:pPr algn="l" indent="0" marL="0">
              <a:lnSpc>
                <a:spcPts val="116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每步檢查，杜絕並發衝突</a:t>
            </a:r>
            <a:endParaRPr lang="en-US" sz="70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spc="169" kern="0" dirty="0">
                <a:solidFill>
                  <a:srgbClr val="FF6B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· REAL-TIME CONTROL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05433"/>
            <a:ext cx="8636000" cy="33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2138" b="1" spc="21" kern="0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七軸滑條，毫秒級回應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457200" y="988963"/>
            <a:ext cx="863600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97A3B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200Hz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物理引擎 + 餘弦軌跡插補，指令集與 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97A3B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SDK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完全對齊</a:t>
            </a:r>
            <a:endParaRPr lang="en-US" sz="844" dirty="0"/>
          </a:p>
        </p:txBody>
      </p:sp>
      <p:sp>
        <p:nvSpPr>
          <p:cNvPr id="5" name="Text 3"/>
          <p:cNvSpPr/>
          <p:nvPr/>
        </p:nvSpPr>
        <p:spPr>
          <a:xfrm>
            <a:off x="460772" y="1396157"/>
            <a:ext cx="4421981" cy="2550319"/>
          </a:xfrm>
          <a:prstGeom prst="roundRect">
            <a:avLst>
              <a:gd name="adj" fmla="val 4482"/>
            </a:avLst>
          </a:prstGeom>
          <a:solidFill>
            <a:srgbClr val="0D1117"/>
          </a:solidFill>
          <a:ln w="7144">
            <a:solidFill>
              <a:srgbClr val="2A3444"/>
            </a:solidFill>
            <a:prstDash val="solid"/>
          </a:ln>
          <a:effectLst>
            <a:outerShdw sx="100000" sy="100000" kx="0" ky="0" algn="bl" rotWithShape="0" blurRad="419100" dist="171450" dir="5400000">
              <a:srgbClr val="000000">
                <a:alpha val="5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/tmp/h2p-fit-1793162836699-y7z99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344" y="1399729"/>
            <a:ext cx="4414838" cy="25431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60772" y="4067919"/>
            <a:ext cx="4421981" cy="601861"/>
          </a:xfrm>
          <a:prstGeom prst="roundRect">
            <a:avLst>
              <a:gd name="adj" fmla="val 22156"/>
            </a:avLst>
          </a:prstGeom>
          <a:solidFill>
            <a:srgbClr val="1B2330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50069" y="4157216"/>
            <a:ext cx="4243388" cy="142232"/>
          </a:xfrm>
          <a:prstGeom prst="rect">
            <a:avLst/>
          </a:prstGeom>
          <a:noFill/>
          <a:ln/>
        </p:spPr>
        <p:txBody>
          <a:bodyPr wrap="none" lIns="28575" tIns="0" rIns="28575" bIns="5715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spc="106" kern="0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指令集 · </a:t>
            </a:r>
            <a:pPr algn="l" indent="0" marL="0">
              <a:lnSpc>
                <a:spcPts val="886"/>
              </a:lnSpc>
              <a:buNone/>
            </a:pPr>
            <a:r>
              <a:rPr lang="en-US" sz="700" spc="106" kern="0" dirty="0">
                <a:solidFill>
                  <a:srgbClr val="97A3B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pPr algn="l" indent="0" marL="0">
              <a:lnSpc>
                <a:spcPts val="886"/>
              </a:lnSpc>
              <a:buNone/>
            </a:pPr>
            <a:r>
              <a:rPr lang="en-US" sz="700" spc="106" kern="0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886"/>
              </a:lnSpc>
              <a:buNone/>
            </a:pPr>
            <a:r>
              <a:rPr lang="en-US" sz="700" spc="106" kern="0" dirty="0">
                <a:solidFill>
                  <a:srgbClr val="97A3B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COMMANDS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50069" y="4314078"/>
            <a:ext cx="382079" cy="279206"/>
          </a:xfrm>
          <a:prstGeom prst="roundRect">
            <a:avLst>
              <a:gd name="adj" fmla="val 3408048"/>
            </a:avLst>
          </a:prstGeom>
          <a:solidFill>
            <a:srgbClr val="1B2330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39380" y="4384030"/>
            <a:ext cx="20345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foc</a:t>
            </a:r>
            <a:endParaRPr lang="en-US" sz="731" dirty="0"/>
          </a:p>
        </p:txBody>
      </p:sp>
      <p:sp>
        <p:nvSpPr>
          <p:cNvPr id="11" name="Text 8"/>
          <p:cNvSpPr/>
          <p:nvPr/>
        </p:nvSpPr>
        <p:spPr>
          <a:xfrm>
            <a:off x="989298" y="4314078"/>
            <a:ext cx="438001" cy="279206"/>
          </a:xfrm>
          <a:prstGeom prst="roundRect">
            <a:avLst>
              <a:gd name="adj" fmla="val 3408048"/>
            </a:avLst>
          </a:prstGeom>
          <a:solidFill>
            <a:srgbClr val="1B2330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078078" y="4384030"/>
            <a:ext cx="26044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</a:t>
            </a:r>
            <a:endParaRPr lang="en-US" sz="731" dirty="0"/>
          </a:p>
        </p:txBody>
      </p:sp>
      <p:sp>
        <p:nvSpPr>
          <p:cNvPr id="13" name="Text 10"/>
          <p:cNvSpPr/>
          <p:nvPr/>
        </p:nvSpPr>
        <p:spPr>
          <a:xfrm>
            <a:off x="1484449" y="4314078"/>
            <a:ext cx="723751" cy="279206"/>
          </a:xfrm>
          <a:prstGeom prst="roundRect">
            <a:avLst>
              <a:gd name="adj" fmla="val 3408048"/>
            </a:avLst>
          </a:prstGeom>
          <a:solidFill>
            <a:srgbClr val="FF6B1A">
              <a:alpha val="12000"/>
            </a:srgbClr>
          </a:solidFill>
          <a:ln w="7144">
            <a:solidFill>
              <a:srgbClr val="FF6B1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1591605" y="4384030"/>
            <a:ext cx="35790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goto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830331" y="4394746"/>
            <a:ext cx="30568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FF6B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最常用</a:t>
            </a:r>
            <a:endParaRPr lang="en-US" sz="619" dirty="0"/>
          </a:p>
        </p:txBody>
      </p:sp>
      <p:sp>
        <p:nvSpPr>
          <p:cNvPr id="16" name="Text 13"/>
          <p:cNvSpPr/>
          <p:nvPr/>
        </p:nvSpPr>
        <p:spPr>
          <a:xfrm>
            <a:off x="2265350" y="4314078"/>
            <a:ext cx="438001" cy="279206"/>
          </a:xfrm>
          <a:prstGeom prst="roundRect">
            <a:avLst>
              <a:gd name="adj" fmla="val 3408048"/>
            </a:avLst>
          </a:prstGeom>
          <a:solidFill>
            <a:srgbClr val="1B2330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354130" y="4384030"/>
            <a:ext cx="26044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</a:t>
            </a:r>
            <a:endParaRPr lang="en-US" sz="731" dirty="0"/>
          </a:p>
        </p:txBody>
      </p:sp>
      <p:sp>
        <p:nvSpPr>
          <p:cNvPr id="18" name="Text 15"/>
          <p:cNvSpPr/>
          <p:nvPr/>
        </p:nvSpPr>
        <p:spPr>
          <a:xfrm>
            <a:off x="2760501" y="4314078"/>
            <a:ext cx="829345" cy="279206"/>
          </a:xfrm>
          <a:prstGeom prst="roundRect">
            <a:avLst>
              <a:gd name="adj" fmla="val 3408048"/>
            </a:avLst>
          </a:prstGeom>
          <a:solidFill>
            <a:srgbClr val="1B2330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2849344" y="4384030"/>
            <a:ext cx="65166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zero_torque</a:t>
            </a:r>
            <a:endParaRPr lang="en-US" sz="731" dirty="0"/>
          </a:p>
        </p:txBody>
      </p:sp>
      <p:sp>
        <p:nvSpPr>
          <p:cNvPr id="20" name="Text 17"/>
          <p:cNvSpPr/>
          <p:nvPr/>
        </p:nvSpPr>
        <p:spPr>
          <a:xfrm>
            <a:off x="3646996" y="4314078"/>
            <a:ext cx="493923" cy="279206"/>
          </a:xfrm>
          <a:prstGeom prst="roundRect">
            <a:avLst>
              <a:gd name="adj" fmla="val 3408048"/>
            </a:avLst>
          </a:prstGeom>
          <a:solidFill>
            <a:srgbClr val="1B2330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3735245" y="4384030"/>
            <a:ext cx="31742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</a:t>
            </a:r>
            <a:endParaRPr lang="en-US" sz="731" dirty="0"/>
          </a:p>
        </p:txBody>
      </p:sp>
      <p:sp>
        <p:nvSpPr>
          <p:cNvPr id="22" name="Text 19"/>
          <p:cNvSpPr/>
          <p:nvPr/>
        </p:nvSpPr>
        <p:spPr>
          <a:xfrm>
            <a:off x="4198069" y="4314078"/>
            <a:ext cx="493923" cy="279206"/>
          </a:xfrm>
          <a:prstGeom prst="roundRect">
            <a:avLst>
              <a:gd name="adj" fmla="val 3408048"/>
            </a:avLst>
          </a:prstGeom>
          <a:solidFill>
            <a:srgbClr val="1B2330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286318" y="4384030"/>
            <a:ext cx="31742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</a:t>
            </a:r>
            <a:endParaRPr lang="en-US" sz="731" dirty="0"/>
          </a:p>
        </p:txBody>
      </p:sp>
      <p:sp>
        <p:nvSpPr>
          <p:cNvPr id="24" name="Text 21"/>
          <p:cNvSpPr/>
          <p:nvPr/>
        </p:nvSpPr>
        <p:spPr>
          <a:xfrm>
            <a:off x="5072063" y="1416695"/>
            <a:ext cx="28575" cy="107156"/>
          </a:xfrm>
          <a:prstGeom prst="roundRect">
            <a:avLst>
              <a:gd name="adj" fmla="val 66667"/>
            </a:avLst>
          </a:prstGeom>
          <a:solidFill>
            <a:srgbClr val="FF6B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172075" y="1392585"/>
            <a:ext cx="3514725" cy="16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b="1" spc="41" kern="0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關節規格 </a:t>
            </a:r>
            <a:pPr algn="l" indent="0" marL="0">
              <a:lnSpc>
                <a:spcPts val="1223"/>
              </a:lnSpc>
              <a:buNone/>
            </a:pPr>
            <a:r>
              <a:rPr lang="en-US" sz="700" b="1" spc="41" kern="0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（節選自 </a:t>
            </a:r>
            <a:pPr algn="l" indent="0" marL="0">
              <a:lnSpc>
                <a:spcPts val="1223"/>
              </a:lnSpc>
              <a:buNone/>
            </a:pPr>
            <a:r>
              <a:rPr lang="en-US" sz="700" b="1" spc="41" kern="0" dirty="0">
                <a:solidFill>
                  <a:srgbClr val="97A3B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robot-model</a:t>
            </a:r>
            <a:pPr algn="l" indent="0" marL="0">
              <a:lnSpc>
                <a:spcPts val="1223"/>
              </a:lnSpc>
              <a:buNone/>
            </a:pPr>
            <a:r>
              <a:rPr lang="en-US" sz="700" b="1" spc="41" kern="0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</a:t>
            </a:r>
            <a:pPr algn="l" indent="0" marL="0">
              <a:lnSpc>
                <a:spcPts val="1223"/>
              </a:lnSpc>
              <a:buNone/>
            </a:pPr>
            <a:r>
              <a:rPr lang="en-US" sz="700" b="1" spc="41" kern="0" dirty="0">
                <a:solidFill>
                  <a:srgbClr val="97A3B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ts</a:t>
            </a:r>
            <a:pPr algn="l" indent="0" marL="0">
              <a:lnSpc>
                <a:spcPts val="1223"/>
              </a:lnSpc>
              <a:buNone/>
            </a:pPr>
            <a:r>
              <a:rPr lang="en-US" sz="700" b="1" spc="41" kern="0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816" dirty="0"/>
          </a:p>
        </p:txBody>
      </p:sp>
      <p:sp>
        <p:nvSpPr>
          <p:cNvPr id="26" name="Text 23"/>
          <p:cNvSpPr/>
          <p:nvPr/>
        </p:nvSpPr>
        <p:spPr>
          <a:xfrm>
            <a:off x="5075634" y="1637258"/>
            <a:ext cx="3607594" cy="2645420"/>
          </a:xfrm>
          <a:prstGeom prst="roundRect">
            <a:avLst>
              <a:gd name="adj" fmla="val 5041"/>
            </a:avLst>
          </a:prstGeom>
          <a:solidFill>
            <a:srgbClr val="141A23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5207794" y="1949797"/>
            <a:ext cx="3343275" cy="0"/>
          </a:xfrm>
          <a:prstGeom prst="line">
            <a:avLst/>
          </a:prstGeom>
          <a:noFill/>
          <a:ln w="7144">
            <a:solidFill>
              <a:srgbClr val="2A344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207794" y="1769418"/>
            <a:ext cx="50292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spc="83" kern="0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軸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5522119" y="1769418"/>
            <a:ext cx="221742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spc="83" kern="0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名稱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6908006" y="1769418"/>
            <a:ext cx="1418275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spc="83" kern="0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行程 </a:t>
            </a:r>
            <a:pPr algn="l" indent="0" marL="0">
              <a:lnSpc>
                <a:spcPts val="886"/>
              </a:lnSpc>
              <a:buNone/>
            </a:pPr>
            <a:r>
              <a:rPr lang="en-US" sz="700" spc="83" kern="0" dirty="0">
                <a:solidFill>
                  <a:srgbClr val="97A3B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rad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7545229" y="1769418"/>
            <a:ext cx="100584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86"/>
              </a:lnSpc>
              <a:buNone/>
            </a:pPr>
            <a:r>
              <a:rPr lang="en-US" sz="700" spc="83" kern="0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峰值扭矩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5207794" y="2274950"/>
            <a:ext cx="3343275" cy="0"/>
          </a:xfrm>
          <a:prstGeom prst="line">
            <a:avLst/>
          </a:prstGeom>
          <a:noFill/>
          <a:ln w="7144">
            <a:solidFill>
              <a:srgbClr val="2A344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207794" y="2045345"/>
            <a:ext cx="49663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J1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522119" y="2042666"/>
            <a:ext cx="1732359" cy="15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肩俯仰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7A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arm_pitch</a:t>
            </a:r>
            <a:endParaRPr lang="en-US" sz="731" dirty="0"/>
          </a:p>
        </p:txBody>
      </p:sp>
      <p:sp>
        <p:nvSpPr>
          <p:cNvPr id="35" name="Text 32"/>
          <p:cNvSpPr/>
          <p:nvPr/>
        </p:nvSpPr>
        <p:spPr>
          <a:xfrm>
            <a:off x="6908006" y="2045345"/>
            <a:ext cx="126801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−2.87 ~ +2.87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7652099" y="2042666"/>
            <a:ext cx="89897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88 </a:t>
            </a:r>
            <a:pPr algn="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7A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N·m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5207794" y="2600102"/>
            <a:ext cx="3343275" cy="0"/>
          </a:xfrm>
          <a:prstGeom prst="line">
            <a:avLst/>
          </a:prstGeom>
          <a:noFill/>
          <a:ln w="7144">
            <a:solidFill>
              <a:srgbClr val="2A344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207794" y="2370497"/>
            <a:ext cx="49663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J2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5522119" y="2367818"/>
            <a:ext cx="1732359" cy="15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肩側擺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7A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arm_roll</a:t>
            </a:r>
            <a:endParaRPr lang="en-US" sz="731" dirty="0"/>
          </a:p>
        </p:txBody>
      </p:sp>
      <p:sp>
        <p:nvSpPr>
          <p:cNvPr id="40" name="Text 37"/>
          <p:cNvSpPr/>
          <p:nvPr/>
        </p:nvSpPr>
        <p:spPr>
          <a:xfrm>
            <a:off x="6908006" y="2370497"/>
            <a:ext cx="126801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−0.61 ~ +3.14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7652099" y="2367818"/>
            <a:ext cx="89897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88 </a:t>
            </a:r>
            <a:pPr algn="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7A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N·m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5207794" y="2925254"/>
            <a:ext cx="3343275" cy="0"/>
          </a:xfrm>
          <a:prstGeom prst="line">
            <a:avLst/>
          </a:prstGeom>
          <a:noFill/>
          <a:ln w="7144">
            <a:solidFill>
              <a:srgbClr val="2A3444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207794" y="2695649"/>
            <a:ext cx="49663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J3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5522119" y="2692971"/>
            <a:ext cx="1732359" cy="15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肩旋轉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7A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arm_yaw</a:t>
            </a:r>
            <a:endParaRPr lang="en-US" sz="731" dirty="0"/>
          </a:p>
        </p:txBody>
      </p:sp>
      <p:sp>
        <p:nvSpPr>
          <p:cNvPr id="45" name="Text 42"/>
          <p:cNvSpPr/>
          <p:nvPr/>
        </p:nvSpPr>
        <p:spPr>
          <a:xfrm>
            <a:off x="6908006" y="2695649"/>
            <a:ext cx="126801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−2.35 ~ +2.35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7652099" y="2692971"/>
            <a:ext cx="89897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 </a:t>
            </a:r>
            <a:pPr algn="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7A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N·m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5207794" y="3250406"/>
            <a:ext cx="3343275" cy="0"/>
          </a:xfrm>
          <a:prstGeom prst="line">
            <a:avLst/>
          </a:prstGeom>
          <a:noFill/>
          <a:ln w="7144">
            <a:solidFill>
              <a:srgbClr val="2A3444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207794" y="3020802"/>
            <a:ext cx="49663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J4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5522119" y="3018123"/>
            <a:ext cx="1732359" cy="15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肘屈伸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7A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forearm_pitch</a:t>
            </a:r>
            <a:endParaRPr lang="en-US" sz="731" dirty="0"/>
          </a:p>
        </p:txBody>
      </p:sp>
      <p:sp>
        <p:nvSpPr>
          <p:cNvPr id="50" name="Text 47"/>
          <p:cNvSpPr/>
          <p:nvPr/>
        </p:nvSpPr>
        <p:spPr>
          <a:xfrm>
            <a:off x="6908006" y="3020802"/>
            <a:ext cx="126801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−0.52 ~ +2.44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7652099" y="3018123"/>
            <a:ext cx="89897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 </a:t>
            </a:r>
            <a:pPr algn="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7A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N·m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5207794" y="3575558"/>
            <a:ext cx="3343275" cy="0"/>
          </a:xfrm>
          <a:prstGeom prst="line">
            <a:avLst/>
          </a:prstGeom>
          <a:noFill/>
          <a:ln w="7144">
            <a:solidFill>
              <a:srgbClr val="2A3444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207794" y="3345954"/>
            <a:ext cx="49663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J5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5522119" y="3343275"/>
            <a:ext cx="1732359" cy="15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前臂旋轉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7A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forearm_yaw</a:t>
            </a:r>
            <a:endParaRPr lang="en-US" sz="731" dirty="0"/>
          </a:p>
        </p:txBody>
      </p:sp>
      <p:sp>
        <p:nvSpPr>
          <p:cNvPr id="55" name="Text 52"/>
          <p:cNvSpPr/>
          <p:nvPr/>
        </p:nvSpPr>
        <p:spPr>
          <a:xfrm>
            <a:off x="6908006" y="3345954"/>
            <a:ext cx="126801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−2.61 ~ +2.61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7652099" y="3343275"/>
            <a:ext cx="89897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28 </a:t>
            </a:r>
            <a:pPr algn="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7A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N·m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5207794" y="3900711"/>
            <a:ext cx="3343275" cy="0"/>
          </a:xfrm>
          <a:prstGeom prst="line">
            <a:avLst/>
          </a:prstGeom>
          <a:noFill/>
          <a:ln w="7144">
            <a:solidFill>
              <a:srgbClr val="2A3444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5207794" y="3671106"/>
            <a:ext cx="49663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J6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5522119" y="3668427"/>
            <a:ext cx="1732359" cy="15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腕俯仰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7A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hand_pitch</a:t>
            </a:r>
            <a:endParaRPr lang="en-US" sz="731" dirty="0"/>
          </a:p>
        </p:txBody>
      </p:sp>
      <p:sp>
        <p:nvSpPr>
          <p:cNvPr id="60" name="Text 57"/>
          <p:cNvSpPr/>
          <p:nvPr/>
        </p:nvSpPr>
        <p:spPr>
          <a:xfrm>
            <a:off x="6908006" y="3671106"/>
            <a:ext cx="126801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−1.57 ~ +1.05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7652099" y="3668427"/>
            <a:ext cx="89897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28 </a:t>
            </a:r>
            <a:pPr algn="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7A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N·m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5207794" y="3996258"/>
            <a:ext cx="49663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J7</a:t>
            </a:r>
            <a:endParaRPr lang="en-US" sz="800" dirty="0"/>
          </a:p>
        </p:txBody>
      </p:sp>
      <p:sp>
        <p:nvSpPr>
          <p:cNvPr id="63" name="Text 60"/>
          <p:cNvSpPr/>
          <p:nvPr/>
        </p:nvSpPr>
        <p:spPr>
          <a:xfrm>
            <a:off x="5522119" y="3993579"/>
            <a:ext cx="1732359" cy="15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腕旋轉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7A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hand_yaw</a:t>
            </a:r>
            <a:endParaRPr lang="en-US" sz="731" dirty="0"/>
          </a:p>
        </p:txBody>
      </p:sp>
      <p:sp>
        <p:nvSpPr>
          <p:cNvPr id="64" name="Text 61"/>
          <p:cNvSpPr/>
          <p:nvPr/>
        </p:nvSpPr>
        <p:spPr>
          <a:xfrm>
            <a:off x="6908006" y="3996258"/>
            <a:ext cx="126801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−1.57 ~ +1.57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7652099" y="3993579"/>
            <a:ext cx="89897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28 </a:t>
            </a:r>
            <a:pPr algn="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7A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N·m</a:t>
            </a:r>
            <a:endParaRPr lang="en-US" sz="800" dirty="0"/>
          </a:p>
        </p:txBody>
      </p:sp>
      <p:sp>
        <p:nvSpPr>
          <p:cNvPr id="66" name="Text 63"/>
          <p:cNvSpPr/>
          <p:nvPr/>
        </p:nvSpPr>
        <p:spPr>
          <a:xfrm>
            <a:off x="5072063" y="4373461"/>
            <a:ext cx="1764506" cy="325641"/>
          </a:xfrm>
          <a:prstGeom prst="roundRect">
            <a:avLst>
              <a:gd name="adj" fmla="val 40950"/>
            </a:avLst>
          </a:prstGeom>
          <a:solidFill>
            <a:srgbClr val="1B2330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4"/>
          <p:cNvSpPr/>
          <p:nvPr/>
        </p:nvSpPr>
        <p:spPr>
          <a:xfrm>
            <a:off x="5179219" y="447198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6B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☞</a:t>
            </a:r>
            <a:endParaRPr lang="en-US" sz="1266" dirty="0"/>
          </a:p>
        </p:txBody>
      </p:sp>
      <p:sp>
        <p:nvSpPr>
          <p:cNvPr id="68" name="Text 65"/>
          <p:cNvSpPr/>
          <p:nvPr/>
        </p:nvSpPr>
        <p:spPr>
          <a:xfrm>
            <a:off x="5379244" y="4471988"/>
            <a:ext cx="135016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00" b="1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dirty</a:t>
            </a:r>
            <a:pPr algn="l" indent="0" marL="0">
              <a:lnSpc>
                <a:spcPts val="1013"/>
              </a:lnSpc>
              <a:buNone/>
            </a:pPr>
            <a:r>
              <a:rPr lang="en-US" sz="700" b="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偵測</a:t>
            </a:r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滑條偏離即標記</a:t>
            </a:r>
            <a:endParaRPr lang="en-US" sz="700" dirty="0"/>
          </a:p>
        </p:txBody>
      </p:sp>
      <p:sp>
        <p:nvSpPr>
          <p:cNvPr id="69" name="Text 66"/>
          <p:cNvSpPr/>
          <p:nvPr/>
        </p:nvSpPr>
        <p:spPr>
          <a:xfrm>
            <a:off x="6922294" y="4373461"/>
            <a:ext cx="1764506" cy="325641"/>
          </a:xfrm>
          <a:prstGeom prst="roundRect">
            <a:avLst>
              <a:gd name="adj" fmla="val 40950"/>
            </a:avLst>
          </a:prstGeom>
          <a:solidFill>
            <a:srgbClr val="1B2330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7"/>
          <p:cNvSpPr/>
          <p:nvPr/>
        </p:nvSpPr>
        <p:spPr>
          <a:xfrm>
            <a:off x="7029450" y="447198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6B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266" dirty="0"/>
          </a:p>
        </p:txBody>
      </p:sp>
      <p:sp>
        <p:nvSpPr>
          <p:cNvPr id="71" name="Text 68"/>
          <p:cNvSpPr/>
          <p:nvPr/>
        </p:nvSpPr>
        <p:spPr>
          <a:xfrm>
            <a:off x="7229475" y="4471988"/>
            <a:ext cx="135016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7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50Hz</a:t>
            </a:r>
            <a:pPr algn="l" indent="0" marL="0">
              <a:lnSpc>
                <a:spcPts val="1157"/>
              </a:lnSpc>
              <a:buNone/>
            </a:pPr>
            <a:r>
              <a:rPr lang="en-US" sz="700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157"/>
              </a:lnSpc>
              <a:buNone/>
            </a:pPr>
            <a:r>
              <a:rPr lang="en-US" sz="700" b="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遙測</a:t>
            </a:r>
            <a:pPr algn="l" indent="0" marL="0">
              <a:lnSpc>
                <a:spcPts val="1157"/>
              </a:lnSpc>
              <a:buNone/>
            </a:pPr>
            <a:r>
              <a:rPr lang="en-US" sz="700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</a:t>
            </a:r>
            <a:pPr algn="l" indent="0" marL="0">
              <a:lnSpc>
                <a:spcPts val="1157"/>
              </a:lnSpc>
              <a:buNone/>
            </a:pPr>
            <a:r>
              <a:rPr lang="en-US" sz="700" dirty="0">
                <a:solidFill>
                  <a:srgbClr val="97A3B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UI</a:t>
            </a:r>
            <a:pPr algn="l" indent="0" marL="0">
              <a:lnSpc>
                <a:spcPts val="1157"/>
              </a:lnSpc>
              <a:buNone/>
            </a:pPr>
            <a:r>
              <a:rPr lang="en-US" sz="700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趨勢圖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8636000" cy="156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42" kern="0" dirty="0">
                <a:solidFill>
                  <a:srgbClr val="FF6B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· 3D VISUALIZATION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26852"/>
            <a:ext cx="8636000" cy="33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2138" b="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看得見，才敢操作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460772" y="999679"/>
            <a:ext cx="4738762" cy="3437483"/>
          </a:xfrm>
          <a:prstGeom prst="roundRect">
            <a:avLst>
              <a:gd name="adj" fmla="val 3325"/>
            </a:avLst>
          </a:prstGeom>
          <a:solidFill>
            <a:srgbClr val="0D1117"/>
          </a:solidFill>
          <a:ln w="7144">
            <a:solidFill>
              <a:srgbClr val="2A3444"/>
            </a:solidFill>
            <a:prstDash val="solid"/>
          </a:ln>
          <a:effectLst>
            <a:outerShdw sx="100000" sy="100000" kx="0" ky="0" algn="bl" rotWithShape="0" blurRad="419100" dist="171450" dir="5400000">
              <a:srgbClr val="000000">
                <a:alpha val="5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/tmp/h2p-fit-1793162836185-mrqu6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344" y="1003250"/>
            <a:ext cx="4731618" cy="34303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0772" y="4530030"/>
            <a:ext cx="4738762" cy="295573"/>
          </a:xfrm>
          <a:prstGeom prst="roundRect">
            <a:avLst>
              <a:gd name="adj" fmla="val 45116"/>
            </a:avLst>
          </a:prstGeom>
          <a:solidFill>
            <a:srgbClr val="1B2330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78644" y="4617095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95" dirty="0"/>
          </a:p>
        </p:txBody>
      </p:sp>
      <p:sp>
        <p:nvSpPr>
          <p:cNvPr id="8" name="Text 5"/>
          <p:cNvSpPr/>
          <p:nvPr/>
        </p:nvSpPr>
        <p:spPr>
          <a:xfrm>
            <a:off x="771525" y="4605040"/>
            <a:ext cx="4310137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</a:t>
            </a:r>
            <a:pPr algn="l" indent="0" marL="0">
              <a:lnSpc>
                <a:spcPts val="124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指令後 </a:t>
            </a:r>
            <a:pPr algn="l" indent="0" marL="0">
              <a:lnSpc>
                <a:spcPts val="124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3D</a:t>
            </a:r>
            <a:pPr algn="l" indent="0" marL="0">
              <a:lnSpc>
                <a:spcPts val="124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讀數 </a:t>
            </a:r>
            <a:pPr algn="l" indent="0" marL="0">
              <a:lnSpc>
                <a:spcPts val="1240"/>
              </a:lnSpc>
              <a:buNone/>
            </a:pPr>
            <a:r>
              <a:rPr lang="en-US" sz="800" dirty="0">
                <a:solidFill>
                  <a:srgbClr val="4CC9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[0, 0.10, 0, 0.55, 0, 0, 0]</a:t>
            </a:r>
            <a:pPr algn="l" indent="0" marL="0">
              <a:lnSpc>
                <a:spcPts val="124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與 </a:t>
            </a:r>
            <a:pPr algn="l" indent="0" marL="0">
              <a:lnSpc>
                <a:spcPts val="1240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ARM_HOME</a:t>
            </a:r>
            <a:pPr algn="l" indent="0" marL="0">
              <a:lnSpc>
                <a:spcPts val="124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一致（</a:t>
            </a:r>
            <a:pPr algn="l" indent="0" marL="0">
              <a:lnSpc>
                <a:spcPts val="124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VLM</a:t>
            </a:r>
            <a:pPr algn="l" indent="0" marL="0">
              <a:lnSpc>
                <a:spcPts val="124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視覺驗證）</a:t>
            </a:r>
            <a:endParaRPr lang="en-US" sz="703" dirty="0"/>
          </a:p>
        </p:txBody>
      </p:sp>
      <p:sp>
        <p:nvSpPr>
          <p:cNvPr id="9" name="Text 6"/>
          <p:cNvSpPr/>
          <p:nvPr/>
        </p:nvSpPr>
        <p:spPr>
          <a:xfrm>
            <a:off x="5392415" y="999679"/>
            <a:ext cx="3290813" cy="886830"/>
          </a:xfrm>
          <a:prstGeom prst="roundRect">
            <a:avLst>
              <a:gd name="adj" fmla="val 15037"/>
            </a:avLst>
          </a:prstGeom>
          <a:solidFill>
            <a:srgbClr val="141A23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528146" y="1303734"/>
            <a:ext cx="278606" cy="278606"/>
          </a:xfrm>
          <a:prstGeom prst="roundRect">
            <a:avLst>
              <a:gd name="adj" fmla="val 34188"/>
            </a:avLst>
          </a:prstGeom>
          <a:solidFill>
            <a:srgbClr val="FF6B1A">
              <a:alpha val="12000"/>
            </a:srgbClr>
          </a:solidFill>
          <a:ln w="7144">
            <a:solidFill>
              <a:srgbClr val="FF6B1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553507" y="1329095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F6B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547" dirty="0"/>
          </a:p>
        </p:txBody>
      </p:sp>
      <p:sp>
        <p:nvSpPr>
          <p:cNvPr id="12" name="Text 9"/>
          <p:cNvSpPr/>
          <p:nvPr/>
        </p:nvSpPr>
        <p:spPr>
          <a:xfrm>
            <a:off x="5910337" y="1196578"/>
            <a:ext cx="2640732" cy="1797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9" kern="0" dirty="0">
                <a:solidFill>
                  <a:srgbClr val="E8EDF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7-DOF</a:t>
            </a:r>
            <a:pPr algn="l" indent="0" marL="0">
              <a:lnSpc>
                <a:spcPts val="1350"/>
              </a:lnSpc>
              <a:buNone/>
            </a:pPr>
            <a:r>
              <a:rPr lang="en-US" sz="900" b="1" spc="9" kern="0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運動鏈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910337" y="1403747"/>
            <a:ext cx="264073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three.js </a:t>
            </a:r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97A3B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0.171</a:t>
            </a:r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重建 </a:t>
            </a:r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URDF</a:t>
            </a:r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嵌套樞軸：</a:t>
            </a:r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4CC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pitch→X / roll→Z / yaw→Y</a:t>
            </a:r>
            <a:endParaRPr lang="en-US" sz="703" dirty="0"/>
          </a:p>
        </p:txBody>
      </p:sp>
      <p:sp>
        <p:nvSpPr>
          <p:cNvPr id="14" name="Text 11"/>
          <p:cNvSpPr/>
          <p:nvPr/>
        </p:nvSpPr>
        <p:spPr>
          <a:xfrm>
            <a:off x="5392415" y="1979377"/>
            <a:ext cx="3290813" cy="886830"/>
          </a:xfrm>
          <a:prstGeom prst="roundRect">
            <a:avLst>
              <a:gd name="adj" fmla="val 15037"/>
            </a:avLst>
          </a:prstGeom>
          <a:solidFill>
            <a:srgbClr val="141A23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528146" y="2283433"/>
            <a:ext cx="278606" cy="278606"/>
          </a:xfrm>
          <a:prstGeom prst="roundRect">
            <a:avLst>
              <a:gd name="adj" fmla="val 34188"/>
            </a:avLst>
          </a:prstGeom>
          <a:solidFill>
            <a:srgbClr val="FF6B1A">
              <a:alpha val="12000"/>
            </a:srgbClr>
          </a:solidFill>
          <a:ln w="7144">
            <a:solidFill>
              <a:srgbClr val="FF6B1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553507" y="2308793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F6B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547" dirty="0"/>
          </a:p>
        </p:txBody>
      </p:sp>
      <p:sp>
        <p:nvSpPr>
          <p:cNvPr id="17" name="Text 14"/>
          <p:cNvSpPr/>
          <p:nvPr/>
        </p:nvSpPr>
        <p:spPr>
          <a:xfrm>
            <a:off x="5910337" y="2247714"/>
            <a:ext cx="2261426" cy="1797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9" kern="0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末端軌跡追蹤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910337" y="2454883"/>
            <a:ext cx="1855076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97A3B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20Hz</a:t>
            </a:r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採樣 </a:t>
            </a:r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TCP</a:t>
            </a:r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路徑，綠色軌跡線即時描繪</a:t>
            </a:r>
            <a:endParaRPr lang="en-US" sz="703" dirty="0"/>
          </a:p>
        </p:txBody>
      </p:sp>
      <p:sp>
        <p:nvSpPr>
          <p:cNvPr id="19" name="Text 16"/>
          <p:cNvSpPr/>
          <p:nvPr/>
        </p:nvSpPr>
        <p:spPr>
          <a:xfrm>
            <a:off x="5392415" y="2959075"/>
            <a:ext cx="3290813" cy="886830"/>
          </a:xfrm>
          <a:prstGeom prst="roundRect">
            <a:avLst>
              <a:gd name="adj" fmla="val 15037"/>
            </a:avLst>
          </a:prstGeom>
          <a:solidFill>
            <a:srgbClr val="141A23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528146" y="3263131"/>
            <a:ext cx="278606" cy="278606"/>
          </a:xfrm>
          <a:prstGeom prst="roundRect">
            <a:avLst>
              <a:gd name="adj" fmla="val 34188"/>
            </a:avLst>
          </a:prstGeom>
          <a:solidFill>
            <a:srgbClr val="F87171">
              <a:alpha val="10000"/>
            </a:srgbClr>
          </a:solidFill>
          <a:ln w="7144">
            <a:solidFill>
              <a:srgbClr val="F8717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553507" y="3288491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8717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↑</a:t>
            </a:r>
            <a:endParaRPr lang="en-US" sz="1547" dirty="0"/>
          </a:p>
        </p:txBody>
      </p:sp>
      <p:sp>
        <p:nvSpPr>
          <p:cNvPr id="22" name="Text 19"/>
          <p:cNvSpPr/>
          <p:nvPr/>
        </p:nvSpPr>
        <p:spPr>
          <a:xfrm>
            <a:off x="5910337" y="3227412"/>
            <a:ext cx="2122161" cy="1797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9" kern="0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E-stop</a:t>
            </a:r>
            <a:pPr algn="l" indent="0" marL="0">
              <a:lnSpc>
                <a:spcPts val="1350"/>
              </a:lnSpc>
              <a:buNone/>
            </a:pPr>
            <a:r>
              <a:rPr lang="en-US" sz="900" b="1" spc="9" kern="0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視覺聯動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910337" y="3434581"/>
            <a:ext cx="1901253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急停觸發 </a:t>
            </a:r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FF6B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</a:t>
            </a:r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關節球即時轉紅，狀態一目了然</a:t>
            </a:r>
            <a:endParaRPr lang="en-US" sz="703" dirty="0"/>
          </a:p>
        </p:txBody>
      </p:sp>
      <p:sp>
        <p:nvSpPr>
          <p:cNvPr id="24" name="Text 21"/>
          <p:cNvSpPr/>
          <p:nvPr/>
        </p:nvSpPr>
        <p:spPr>
          <a:xfrm>
            <a:off x="5392415" y="3938774"/>
            <a:ext cx="3290813" cy="886830"/>
          </a:xfrm>
          <a:prstGeom prst="roundRect">
            <a:avLst>
              <a:gd name="adj" fmla="val 15037"/>
            </a:avLst>
          </a:prstGeom>
          <a:solidFill>
            <a:srgbClr val="141A23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528146" y="4242829"/>
            <a:ext cx="278606" cy="278606"/>
          </a:xfrm>
          <a:prstGeom prst="roundRect">
            <a:avLst>
              <a:gd name="adj" fmla="val 34188"/>
            </a:avLst>
          </a:prstGeom>
          <a:solidFill>
            <a:srgbClr val="FF6B1A">
              <a:alpha val="12000"/>
            </a:srgbClr>
          </a:solidFill>
          <a:ln w="7144">
            <a:solidFill>
              <a:srgbClr val="FF6B1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553507" y="4268190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F6B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27" name="Text 24"/>
          <p:cNvSpPr/>
          <p:nvPr/>
        </p:nvSpPr>
        <p:spPr>
          <a:xfrm>
            <a:off x="5910337" y="4207111"/>
            <a:ext cx="2640732" cy="1797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9" kern="0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視角控制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910337" y="4414279"/>
            <a:ext cx="2184648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97A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OrbitControls</a:t>
            </a:r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前/側/俯/</a:t>
            </a:r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97A3B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45°</a:t>
            </a:r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預設 + 線框模式切換</a:t>
            </a:r>
            <a:endParaRPr lang="en-US" sz="70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3296284" cy="1493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42" kern="0" dirty="0">
                <a:solidFill>
                  <a:srgbClr val="FF6B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· TRAJECTORY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19708"/>
            <a:ext cx="3127248" cy="33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2138" b="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錄一次，回放無限次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7186613" y="635347"/>
            <a:ext cx="1575197" cy="212169"/>
          </a:xfrm>
          <a:prstGeom prst="rect">
            <a:avLst/>
          </a:prstGeom>
          <a:noFill/>
          <a:ln/>
        </p:spPr>
        <p:txBody>
          <a:bodyPr wrap="none" lIns="0" tIns="0" rIns="0" bIns="35719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從示教到量產循環，一條龍完成</a:t>
            </a:r>
            <a:endParaRPr lang="en-US" sz="844" dirty="0"/>
          </a:p>
        </p:txBody>
      </p:sp>
      <p:sp>
        <p:nvSpPr>
          <p:cNvPr id="5" name="Text 3"/>
          <p:cNvSpPr/>
          <p:nvPr/>
        </p:nvSpPr>
        <p:spPr>
          <a:xfrm>
            <a:off x="457200" y="1154274"/>
            <a:ext cx="64294" cy="64294"/>
          </a:xfrm>
          <a:prstGeom prst="ellipse">
            <a:avLst/>
          </a:prstGeom>
          <a:solidFill>
            <a:srgbClr val="F87171"/>
          </a:solidFill>
          <a:ln/>
          <a:effectLst>
            <a:outerShdw sx="100000" sy="100000" kx="0" ky="0" algn="bl" rotWithShape="0" blurRad="95250" dist="50800" dir="16200000">
              <a:srgbClr val="F87171">
                <a:alpha val="8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85788" y="1119448"/>
            <a:ext cx="44577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錄製中</a:t>
            </a:r>
            <a:endParaRPr lang="en-US" sz="703" dirty="0"/>
          </a:p>
        </p:txBody>
      </p:sp>
      <p:sp>
        <p:nvSpPr>
          <p:cNvPr id="7" name="Text 5"/>
          <p:cNvSpPr/>
          <p:nvPr/>
        </p:nvSpPr>
        <p:spPr>
          <a:xfrm>
            <a:off x="928688" y="1119448"/>
            <a:ext cx="775811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計時 / 點數 / 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7A3B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20Hz</a:t>
            </a:r>
            <a:pPr algn="l" indent="0" marL="0">
              <a:lnSpc>
                <a:spcPts val="120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採樣即時顯示</a:t>
            </a:r>
            <a:endParaRPr lang="en-US" sz="703" dirty="0"/>
          </a:p>
        </p:txBody>
      </p:sp>
      <p:sp>
        <p:nvSpPr>
          <p:cNvPr id="8" name="Text 6"/>
          <p:cNvSpPr/>
          <p:nvPr/>
        </p:nvSpPr>
        <p:spPr>
          <a:xfrm>
            <a:off x="460772" y="1328403"/>
            <a:ext cx="8222456" cy="1550194"/>
          </a:xfrm>
          <a:prstGeom prst="roundRect">
            <a:avLst>
              <a:gd name="adj" fmla="val 7373"/>
            </a:avLst>
          </a:prstGeom>
          <a:solidFill>
            <a:srgbClr val="0D1117"/>
          </a:solidFill>
          <a:ln w="7144">
            <a:solidFill>
              <a:srgbClr val="2A3444"/>
            </a:solidFill>
            <a:prstDash val="solid"/>
          </a:ln>
          <a:effectLst>
            <a:outerShdw sx="100000" sy="100000" kx="0" ky="0" algn="bl" rotWithShape="0" blurRad="419100" dist="171450" dir="5400000">
              <a:srgbClr val="000000">
                <a:alpha val="5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0" descr="/tmp/h2p-fit-1793162835460-fe316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344" y="1331975"/>
            <a:ext cx="8215313" cy="15430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60772" y="3173388"/>
            <a:ext cx="2552886" cy="964406"/>
          </a:xfrm>
          <a:prstGeom prst="roundRect">
            <a:avLst>
              <a:gd name="adj" fmla="val 13827"/>
            </a:avLst>
          </a:prstGeom>
          <a:solidFill>
            <a:srgbClr val="141A23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07219" y="3319835"/>
            <a:ext cx="121444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69" b="1" dirty="0">
                <a:solidFill>
                  <a:srgbClr val="FF6B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①</a:t>
            </a:r>
            <a:endParaRPr lang="en-US" sz="1069" dirty="0"/>
          </a:p>
        </p:txBody>
      </p:sp>
      <p:sp>
        <p:nvSpPr>
          <p:cNvPr id="12" name="Text 9"/>
          <p:cNvSpPr/>
          <p:nvPr/>
        </p:nvSpPr>
        <p:spPr>
          <a:xfrm>
            <a:off x="800100" y="3335908"/>
            <a:ext cx="2067111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錄製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07219" y="3580581"/>
            <a:ext cx="2259992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97A3B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20Hz</a:t>
            </a:r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採樣關節路徑點，實測 </a:t>
            </a:r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38</a:t>
            </a:r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點 / </a:t>
            </a:r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18</a:t>
            </a:r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秒</a:t>
            </a:r>
            <a:endParaRPr lang="en-US" sz="703" dirty="0"/>
          </a:p>
        </p:txBody>
      </p:sp>
      <p:sp>
        <p:nvSpPr>
          <p:cNvPr id="14" name="Text 11"/>
          <p:cNvSpPr/>
          <p:nvPr/>
        </p:nvSpPr>
        <p:spPr>
          <a:xfrm>
            <a:off x="3079056" y="3527003"/>
            <a:ext cx="15104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6B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3295501" y="3173388"/>
            <a:ext cx="2552886" cy="964406"/>
          </a:xfrm>
          <a:prstGeom prst="roundRect">
            <a:avLst>
              <a:gd name="adj" fmla="val 13827"/>
            </a:avLst>
          </a:prstGeom>
          <a:solidFill>
            <a:srgbClr val="141A23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3441948" y="3319835"/>
            <a:ext cx="121444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69" b="1" dirty="0">
                <a:solidFill>
                  <a:srgbClr val="FF6B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②</a:t>
            </a:r>
            <a:endParaRPr lang="en-US" sz="1069" dirty="0"/>
          </a:p>
        </p:txBody>
      </p:sp>
      <p:sp>
        <p:nvSpPr>
          <p:cNvPr id="17" name="Text 14"/>
          <p:cNvSpPr/>
          <p:nvPr/>
        </p:nvSpPr>
        <p:spPr>
          <a:xfrm>
            <a:off x="3634829" y="3335908"/>
            <a:ext cx="2067111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441948" y="3580581"/>
            <a:ext cx="225999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97A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Trajectory</a:t>
            </a:r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入庫（</a:t>
            </a:r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97A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Prisma SQLite</a:t>
            </a:r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）· 點數/時長自動記錄</a:t>
            </a:r>
            <a:endParaRPr lang="en-US" sz="703" dirty="0"/>
          </a:p>
        </p:txBody>
      </p:sp>
      <p:sp>
        <p:nvSpPr>
          <p:cNvPr id="19" name="Text 16"/>
          <p:cNvSpPr/>
          <p:nvPr/>
        </p:nvSpPr>
        <p:spPr>
          <a:xfrm>
            <a:off x="5913785" y="3527003"/>
            <a:ext cx="15104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6B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130230" y="3173388"/>
            <a:ext cx="2552886" cy="964406"/>
          </a:xfrm>
          <a:prstGeom prst="roundRect">
            <a:avLst>
              <a:gd name="adj" fmla="val 13827"/>
            </a:avLst>
          </a:prstGeom>
          <a:solidFill>
            <a:srgbClr val="141A23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276677" y="3319835"/>
            <a:ext cx="121444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69" b="1" dirty="0">
                <a:solidFill>
                  <a:srgbClr val="FF6B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③</a:t>
            </a:r>
            <a:endParaRPr lang="en-US" sz="1069" dirty="0"/>
          </a:p>
        </p:txBody>
      </p:sp>
      <p:sp>
        <p:nvSpPr>
          <p:cNvPr id="22" name="Text 19"/>
          <p:cNvSpPr/>
          <p:nvPr/>
        </p:nvSpPr>
        <p:spPr>
          <a:xfrm>
            <a:off x="6469559" y="3335908"/>
            <a:ext cx="2067111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回放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276677" y="3580581"/>
            <a:ext cx="2259992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0.5× / 1× / 2×</a:t>
            </a:r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速度，逐點 </a:t>
            </a:r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97A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goto</a:t>
            </a:r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進度條即時回報</a:t>
            </a:r>
            <a:endParaRPr lang="en-US" sz="703" dirty="0"/>
          </a:p>
        </p:txBody>
      </p:sp>
      <p:sp>
        <p:nvSpPr>
          <p:cNvPr id="24" name="Text 21"/>
          <p:cNvSpPr/>
          <p:nvPr/>
        </p:nvSpPr>
        <p:spPr>
          <a:xfrm>
            <a:off x="460772" y="4432585"/>
            <a:ext cx="8222456" cy="392906"/>
          </a:xfrm>
          <a:prstGeom prst="roundRect">
            <a:avLst>
              <a:gd name="adj" fmla="val 33939"/>
            </a:avLst>
          </a:prstGeom>
          <a:solidFill>
            <a:srgbClr val="F87171">
              <a:alpha val="7000"/>
            </a:srgbClr>
          </a:solidFill>
          <a:ln w="7144">
            <a:solidFill>
              <a:srgbClr val="F8717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07219" y="4550457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8717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547" dirty="0"/>
          </a:p>
        </p:txBody>
      </p:sp>
      <p:sp>
        <p:nvSpPr>
          <p:cNvPr id="26" name="Text 23"/>
          <p:cNvSpPr/>
          <p:nvPr/>
        </p:nvSpPr>
        <p:spPr>
          <a:xfrm>
            <a:off x="857250" y="4556261"/>
            <a:ext cx="7679531" cy="151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703" b="1" dirty="0">
                <a:solidFill>
                  <a:srgbClr val="F87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回放安全</a:t>
            </a:r>
            <a:pPr algn="l" indent="0" marL="0">
              <a:lnSpc>
                <a:spcPts val="1240"/>
              </a:lnSpc>
              <a:buNone/>
            </a:pPr>
            <a:r>
              <a:rPr lang="en-US" sz="703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</a:t>
            </a:r>
            <a:pPr algn="l" indent="0" marL="0">
              <a:lnSpc>
                <a:spcPts val="1240"/>
              </a:lnSpc>
              <a:buNone/>
            </a:pPr>
            <a:r>
              <a:rPr lang="en-US" sz="703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E-stop</a:t>
            </a:r>
            <a:pPr algn="l" indent="0" marL="0">
              <a:lnSpc>
                <a:spcPts val="1240"/>
              </a:lnSpc>
              <a:buNone/>
            </a:pPr>
            <a:r>
              <a:rPr lang="en-US" sz="703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每步檢查自動中止 · </a:t>
            </a:r>
            <a:pPr algn="l" indent="0" marL="0">
              <a:lnSpc>
                <a:spcPts val="1240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</a:t>
            </a:r>
            <a:pPr algn="l" indent="0" marL="0">
              <a:lnSpc>
                <a:spcPts val="1240"/>
              </a:lnSpc>
              <a:buNone/>
            </a:pPr>
            <a:r>
              <a:rPr lang="en-US" sz="703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即時停臂（</a:t>
            </a:r>
            <a:pPr algn="l" indent="0" marL="0">
              <a:lnSpc>
                <a:spcPts val="1240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max|dq| = 0</a:t>
            </a:r>
            <a:pPr algn="l" indent="0" marL="0">
              <a:lnSpc>
                <a:spcPts val="1240"/>
              </a:lnSpc>
              <a:buNone/>
            </a:pPr>
            <a:r>
              <a:rPr lang="en-US" sz="703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）· 並發回放請求 </a:t>
            </a:r>
            <a:pPr algn="l" indent="0" marL="0">
              <a:lnSpc>
                <a:spcPts val="1240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409</a:t>
            </a:r>
            <a:pPr algn="l" indent="0" marL="0">
              <a:lnSpc>
                <a:spcPts val="1240"/>
              </a:lnSpc>
              <a:buNone/>
            </a:pPr>
            <a:r>
              <a:rPr lang="en-US" sz="703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拒絕</a:t>
            </a:r>
            <a:endParaRPr lang="en-US" sz="703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8636000" cy="1422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42" kern="0" dirty="0">
                <a:solidFill>
                  <a:srgbClr val="FF6B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· SAFETY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12564"/>
            <a:ext cx="6393656" cy="33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2138" b="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安全是內建，不是外掛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6865144" y="628204"/>
            <a:ext cx="1912739" cy="212169"/>
          </a:xfrm>
          <a:prstGeom prst="rect">
            <a:avLst/>
          </a:prstGeom>
          <a:noFill/>
          <a:ln/>
        </p:spPr>
        <p:txBody>
          <a:bodyPr wrap="none" lIns="0" tIns="0" rIns="0" bIns="35719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每一條指令，下發前必須穿過五層防護</a:t>
            </a:r>
            <a:endParaRPr lang="en-US" sz="844" dirty="0"/>
          </a:p>
        </p:txBody>
      </p:sp>
      <p:sp>
        <p:nvSpPr>
          <p:cNvPr id="5" name="Text 3"/>
          <p:cNvSpPr/>
          <p:nvPr/>
        </p:nvSpPr>
        <p:spPr>
          <a:xfrm>
            <a:off x="460772" y="942529"/>
            <a:ext cx="1558789" cy="992981"/>
          </a:xfrm>
          <a:prstGeom prst="roundRect">
            <a:avLst>
              <a:gd name="adj" fmla="val 13429"/>
            </a:avLst>
          </a:prstGeom>
          <a:solidFill>
            <a:srgbClr val="141A23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8644" y="1057721"/>
            <a:ext cx="116588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spc="113" kern="0" dirty="0">
                <a:solidFill>
                  <a:srgbClr val="97A3B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758814" y="105325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97A3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406" dirty="0"/>
          </a:p>
        </p:txBody>
      </p:sp>
      <p:sp>
        <p:nvSpPr>
          <p:cNvPr id="8" name="Text 6"/>
          <p:cNvSpPr/>
          <p:nvPr/>
        </p:nvSpPr>
        <p:spPr>
          <a:xfrm>
            <a:off x="578644" y="1267569"/>
            <a:ext cx="1323045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限位驗證</a:t>
            </a:r>
            <a:endParaRPr lang="en-US" sz="872" dirty="0"/>
          </a:p>
        </p:txBody>
      </p:sp>
      <p:sp>
        <p:nvSpPr>
          <p:cNvPr id="9" name="Text 7"/>
          <p:cNvSpPr/>
          <p:nvPr/>
        </p:nvSpPr>
        <p:spPr>
          <a:xfrm>
            <a:off x="578644" y="1476524"/>
            <a:ext cx="1402428" cy="297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600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每軸 </a:t>
            </a:r>
            <a:pPr algn="l" indent="0" marL="0">
              <a:lnSpc>
                <a:spcPts val="1046"/>
              </a:lnSpc>
              <a:buNone/>
            </a:pPr>
            <a:r>
              <a:rPr lang="en-US" sz="686" dirty="0">
                <a:solidFill>
                  <a:srgbClr val="97A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min/max/vMax/tauMax</a:t>
            </a:r>
            <a:pPr algn="l" indent="0" marL="0">
              <a:lnSpc>
                <a:spcPts val="1046"/>
              </a:lnSpc>
              <a:buNone/>
            </a:pPr>
            <a:r>
              <a:rPr lang="en-US" sz="600" dirty="0">
                <a:solidFill>
                  <a:srgbClr val="97A3B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— J1 </a:t>
            </a:r>
            <a:pPr algn="l" indent="0" marL="0">
              <a:lnSpc>
                <a:spcPts val="1046"/>
              </a:lnSpc>
              <a:buNone/>
            </a:pPr>
            <a:r>
              <a:rPr lang="en-US" sz="686" dirty="0">
                <a:solidFill>
                  <a:srgbClr val="97A3B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9.9 rad</a:t>
            </a:r>
            <a:pPr algn="l" indent="0" marL="0">
              <a:lnSpc>
                <a:spcPts val="1046"/>
              </a:lnSpc>
              <a:buNone/>
            </a:pPr>
            <a:r>
              <a:rPr lang="en-US" sz="600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當場拒絕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2126717" y="942529"/>
            <a:ext cx="1558789" cy="992981"/>
          </a:xfrm>
          <a:prstGeom prst="roundRect">
            <a:avLst>
              <a:gd name="adj" fmla="val 13429"/>
            </a:avLst>
          </a:prstGeom>
          <a:solidFill>
            <a:srgbClr val="141A23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244589" y="1057721"/>
            <a:ext cx="116588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spc="113" kern="0" dirty="0">
                <a:solidFill>
                  <a:srgbClr val="97A3B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24758" y="105325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97A3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〜</a:t>
            </a:r>
            <a:endParaRPr lang="en-US" sz="1406" dirty="0"/>
          </a:p>
        </p:txBody>
      </p:sp>
      <p:sp>
        <p:nvSpPr>
          <p:cNvPr id="13" name="Text 11"/>
          <p:cNvSpPr/>
          <p:nvPr/>
        </p:nvSpPr>
        <p:spPr>
          <a:xfrm>
            <a:off x="2244589" y="1267569"/>
            <a:ext cx="1323045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指令去抖</a:t>
            </a:r>
            <a:endParaRPr lang="en-US" sz="872" dirty="0"/>
          </a:p>
        </p:txBody>
      </p:sp>
      <p:sp>
        <p:nvSpPr>
          <p:cNvPr id="14" name="Text 12"/>
          <p:cNvSpPr/>
          <p:nvPr/>
        </p:nvSpPr>
        <p:spPr>
          <a:xfrm>
            <a:off x="2244589" y="1476524"/>
            <a:ext cx="1323045" cy="14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600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抑制指令風暴，防通信異常抖動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3792662" y="942529"/>
            <a:ext cx="1558789" cy="992981"/>
          </a:xfrm>
          <a:prstGeom prst="roundRect">
            <a:avLst>
              <a:gd name="adj" fmla="val 13429"/>
            </a:avLst>
          </a:prstGeom>
          <a:solidFill>
            <a:srgbClr val="141A23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910533" y="1057721"/>
            <a:ext cx="116588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spc="113" kern="0" dirty="0">
                <a:solidFill>
                  <a:srgbClr val="97A3B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090703" y="105325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97A3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18" name="Text 16"/>
          <p:cNvSpPr/>
          <p:nvPr/>
        </p:nvSpPr>
        <p:spPr>
          <a:xfrm>
            <a:off x="3910533" y="1267569"/>
            <a:ext cx="1323045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E-stop</a:t>
            </a:r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聯鎖</a:t>
            </a:r>
            <a:endParaRPr lang="en-US" sz="872" dirty="0"/>
          </a:p>
        </p:txBody>
      </p:sp>
      <p:sp>
        <p:nvSpPr>
          <p:cNvPr id="19" name="Text 17"/>
          <p:cNvSpPr/>
          <p:nvPr/>
        </p:nvSpPr>
        <p:spPr>
          <a:xfrm>
            <a:off x="3910533" y="1476524"/>
            <a:ext cx="1323045" cy="14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600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急停後運動指令全擋，</a:t>
            </a:r>
            <a:pPr algn="l" indent="0" marL="0">
              <a:lnSpc>
                <a:spcPts val="1046"/>
              </a:lnSpc>
              <a:buNone/>
            </a:pPr>
            <a:r>
              <a:rPr lang="en-US" sz="686" dirty="0">
                <a:solidFill>
                  <a:srgbClr val="97A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</a:t>
            </a:r>
            <a:pPr algn="l" indent="0" marL="0">
              <a:lnSpc>
                <a:spcPts val="1046"/>
              </a:lnSpc>
              <a:buNone/>
            </a:pPr>
            <a:r>
              <a:rPr lang="en-US" sz="600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才恢復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5458606" y="942529"/>
            <a:ext cx="1558789" cy="992981"/>
          </a:xfrm>
          <a:prstGeom prst="roundRect">
            <a:avLst>
              <a:gd name="adj" fmla="val 13429"/>
            </a:avLst>
          </a:prstGeom>
          <a:solidFill>
            <a:srgbClr val="141A23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576478" y="1057721"/>
            <a:ext cx="116588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spc="113" kern="0" dirty="0">
                <a:solidFill>
                  <a:srgbClr val="97A3B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56648" y="105325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97A3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23" name="Text 21"/>
          <p:cNvSpPr/>
          <p:nvPr/>
        </p:nvSpPr>
        <p:spPr>
          <a:xfrm>
            <a:off x="5576478" y="1267569"/>
            <a:ext cx="1323045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角色權限</a:t>
            </a:r>
            <a:endParaRPr lang="en-US" sz="872" dirty="0"/>
          </a:p>
        </p:txBody>
      </p:sp>
      <p:sp>
        <p:nvSpPr>
          <p:cNvPr id="24" name="Text 22"/>
          <p:cNvSpPr/>
          <p:nvPr/>
        </p:nvSpPr>
        <p:spPr>
          <a:xfrm>
            <a:off x="5576478" y="1476524"/>
            <a:ext cx="1402428" cy="297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686" dirty="0">
                <a:solidFill>
                  <a:srgbClr val="97A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viewer</a:t>
            </a:r>
            <a:pPr algn="l" indent="0" marL="0">
              <a:lnSpc>
                <a:spcPts val="1046"/>
              </a:lnSpc>
              <a:buNone/>
            </a:pPr>
            <a:r>
              <a:rPr lang="en-US" sz="600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唯讀 · </a:t>
            </a:r>
            <a:pPr algn="l" indent="0" marL="0">
              <a:lnSpc>
                <a:spcPts val="1046"/>
              </a:lnSpc>
              <a:buNone/>
            </a:pPr>
            <a:r>
              <a:rPr lang="en-US" sz="686" dirty="0">
                <a:solidFill>
                  <a:srgbClr val="97A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operator</a:t>
            </a:r>
            <a:pPr algn="l" indent="0" marL="0">
              <a:lnSpc>
                <a:spcPts val="1046"/>
              </a:lnSpc>
              <a:buNone/>
            </a:pPr>
            <a:r>
              <a:rPr lang="en-US" sz="600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操作 · </a:t>
            </a:r>
            <a:pPr algn="l" indent="0" marL="0">
              <a:lnSpc>
                <a:spcPts val="1046"/>
              </a:lnSpc>
              <a:buNone/>
            </a:pPr>
            <a:r>
              <a:rPr lang="en-US" sz="686" dirty="0">
                <a:solidFill>
                  <a:srgbClr val="97A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pPr algn="l" indent="0" marL="0">
              <a:lnSpc>
                <a:spcPts val="1046"/>
              </a:lnSpc>
              <a:buNone/>
            </a:pPr>
            <a:r>
              <a:rPr lang="en-US" sz="600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危險指令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7124551" y="942529"/>
            <a:ext cx="1558789" cy="992981"/>
          </a:xfrm>
          <a:prstGeom prst="roundRect">
            <a:avLst>
              <a:gd name="adj" fmla="val 13429"/>
            </a:avLst>
          </a:prstGeom>
          <a:solidFill>
            <a:srgbClr val="141A23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242423" y="1057721"/>
            <a:ext cx="116588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spc="113" kern="0" dirty="0">
                <a:solidFill>
                  <a:srgbClr val="97A3B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422593" y="105325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97A3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28" name="Text 26"/>
          <p:cNvSpPr/>
          <p:nvPr/>
        </p:nvSpPr>
        <p:spPr>
          <a:xfrm>
            <a:off x="7242423" y="1267569"/>
            <a:ext cx="1323045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審計追蹤</a:t>
            </a:r>
            <a:endParaRPr lang="en-US" sz="872" dirty="0"/>
          </a:p>
        </p:txBody>
      </p:sp>
      <p:sp>
        <p:nvSpPr>
          <p:cNvPr id="29" name="Text 27"/>
          <p:cNvSpPr/>
          <p:nvPr/>
        </p:nvSpPr>
        <p:spPr>
          <a:xfrm>
            <a:off x="7242423" y="1476524"/>
            <a:ext cx="1323045" cy="14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600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全指令入庫 · 關聯 </a:t>
            </a:r>
            <a:pPr algn="l" indent="0" marL="0">
              <a:lnSpc>
                <a:spcPts val="1046"/>
              </a:lnSpc>
              <a:buNone/>
            </a:pPr>
            <a:r>
              <a:rPr lang="en-US" sz="686" dirty="0">
                <a:solidFill>
                  <a:srgbClr val="97A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ApiUser</a:t>
            </a:r>
            <a:pPr algn="l" indent="0" marL="0">
              <a:lnSpc>
                <a:spcPts val="1046"/>
              </a:lnSpc>
              <a:buNone/>
            </a:pPr>
            <a:r>
              <a:rPr lang="en-US" sz="600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可追責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632222" y="2056954"/>
            <a:ext cx="7879556" cy="2564606"/>
          </a:xfrm>
          <a:prstGeom prst="roundRect">
            <a:avLst>
              <a:gd name="adj" fmla="val 4457"/>
            </a:avLst>
          </a:prstGeom>
          <a:solidFill>
            <a:srgbClr val="0D1117"/>
          </a:solidFill>
          <a:ln w="7144">
            <a:solidFill>
              <a:srgbClr val="2A3444"/>
            </a:solidFill>
            <a:prstDash val="solid"/>
          </a:ln>
          <a:effectLst>
            <a:outerShdw sx="100000" sy="100000" kx="0" ky="0" algn="bl" rotWithShape="0" blurRad="419100" dist="171450" dir="5400000">
              <a:srgbClr val="000000">
                <a:alpha val="5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1" name="Image 0" descr="/tmp/h2p-fit-1793162844014-q2r5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794" y="2060525"/>
            <a:ext cx="7872413" cy="2557463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457200" y="4682282"/>
            <a:ext cx="8229600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03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審計日誌</a:t>
            </a:r>
            <a:pPr algn="ctr" indent="0" marL="0">
              <a:lnSpc>
                <a:spcPts val="120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</a:t>
            </a:r>
            <a:pPr algn="ctr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estop / clear / goto / home</a:t>
            </a:r>
            <a:pPr algn="ctr" indent="0" marL="0">
              <a:lnSpc>
                <a:spcPts val="120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全程留痕</a:t>
            </a:r>
            <a:endParaRPr lang="en-US" sz="703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8636000" cy="1493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42" kern="0" dirty="0">
                <a:solidFill>
                  <a:srgbClr val="FF6B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· OPEN API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19708"/>
            <a:ext cx="8636000" cy="32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2138" b="1" dirty="0">
                <a:solidFill>
                  <a:srgbClr val="FF6B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18</a:t>
            </a:r>
            <a:pPr algn="l" indent="0" marL="0">
              <a:lnSpc>
                <a:spcPts val="2458"/>
              </a:lnSpc>
              <a:buNone/>
            </a:pPr>
            <a:r>
              <a:rPr lang="en-US" sz="2138" b="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個 </a:t>
            </a:r>
            <a:pPr algn="l" indent="0" marL="0">
              <a:lnSpc>
                <a:spcPts val="2458"/>
              </a:lnSpc>
              <a:buNone/>
            </a:pPr>
            <a:r>
              <a:rPr lang="en-US" sz="2138" b="1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REST</a:t>
            </a:r>
            <a:pPr algn="l" indent="0" marL="0">
              <a:lnSpc>
                <a:spcPts val="2458"/>
              </a:lnSpc>
              <a:buNone/>
            </a:pPr>
            <a:r>
              <a:rPr lang="en-US" sz="2138" b="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端點 · </a:t>
            </a:r>
            <a:pPr algn="l" indent="0" marL="0">
              <a:lnSpc>
                <a:spcPts val="2458"/>
              </a:lnSpc>
              <a:buNone/>
            </a:pPr>
            <a:r>
              <a:rPr lang="en-US" sz="2138" b="1" dirty="0">
                <a:solidFill>
                  <a:srgbClr val="FF6B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pPr algn="l" indent="0" marL="0">
              <a:lnSpc>
                <a:spcPts val="2458"/>
              </a:lnSpc>
              <a:buNone/>
            </a:pPr>
            <a:r>
              <a:rPr lang="en-US" sz="2138" b="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個 </a:t>
            </a:r>
            <a:pPr algn="l" indent="0" marL="0">
              <a:lnSpc>
                <a:spcPts val="2458"/>
              </a:lnSpc>
              <a:buNone/>
            </a:pPr>
            <a:r>
              <a:rPr lang="en-US" sz="2138" b="1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WS</a:t>
            </a:r>
            <a:pPr algn="l" indent="0" marL="0">
              <a:lnSpc>
                <a:spcPts val="2458"/>
              </a:lnSpc>
              <a:buNone/>
            </a:pPr>
            <a:r>
              <a:rPr lang="en-US" sz="2138" b="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2458"/>
              </a:lnSpc>
              <a:buNone/>
            </a:pPr>
            <a:r>
              <a:rPr lang="en-US" sz="2138" b="1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Topics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457200" y="874663"/>
            <a:ext cx="8636000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把機械臂變成任何系統都可調用的服務</a:t>
            </a:r>
            <a:endParaRPr lang="en-US" sz="844" dirty="0"/>
          </a:p>
        </p:txBody>
      </p:sp>
      <p:sp>
        <p:nvSpPr>
          <p:cNvPr id="5" name="Text 3"/>
          <p:cNvSpPr/>
          <p:nvPr/>
        </p:nvSpPr>
        <p:spPr>
          <a:xfrm>
            <a:off x="457200" y="1162199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6B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628650" y="1149697"/>
            <a:ext cx="1186811" cy="15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REST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帶金鑰下指令</a:t>
            </a:r>
            <a:endParaRPr lang="en-US" sz="731" dirty="0"/>
          </a:p>
        </p:txBody>
      </p:sp>
      <p:sp>
        <p:nvSpPr>
          <p:cNvPr id="7" name="Text 5"/>
          <p:cNvSpPr/>
          <p:nvPr/>
        </p:nvSpPr>
        <p:spPr>
          <a:xfrm>
            <a:off x="1635249" y="1215777"/>
            <a:ext cx="3246053" cy="7144"/>
          </a:xfrm>
          <a:prstGeom prst="rect">
            <a:avLst/>
          </a:prstGeom>
          <a:solidFill>
            <a:srgbClr val="2A3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0772" y="1349722"/>
            <a:ext cx="4416958" cy="903796"/>
          </a:xfrm>
          <a:prstGeom prst="roundRect">
            <a:avLst>
              <a:gd name="adj" fmla="val 10539"/>
            </a:avLst>
          </a:prstGeom>
          <a:solidFill>
            <a:srgbClr val="0D1117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1506" y="1517600"/>
            <a:ext cx="877148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4"/>
              </a:lnSpc>
              <a:buNone/>
            </a:pPr>
            <a:r>
              <a:rPr lang="en-US" sz="816" dirty="0">
                <a:solidFill>
                  <a:srgbClr val="FF6B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-X POST</a:t>
            </a:r>
            <a:endParaRPr lang="en-US" sz="816" dirty="0"/>
          </a:p>
        </p:txBody>
      </p:sp>
      <p:sp>
        <p:nvSpPr>
          <p:cNvPr id="10" name="Text 8"/>
          <p:cNvSpPr/>
          <p:nvPr/>
        </p:nvSpPr>
        <p:spPr>
          <a:xfrm>
            <a:off x="1432322" y="1517600"/>
            <a:ext cx="2289983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4"/>
              </a:lnSpc>
              <a:buNone/>
            </a:pPr>
            <a:r>
              <a:rPr lang="en-US" sz="816" dirty="0">
                <a:solidFill>
                  <a:srgbClr val="4CC9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http://host:3000/api/robot/command</a:t>
            </a:r>
            <a:endParaRPr lang="en-US" sz="816" dirty="0"/>
          </a:p>
        </p:txBody>
      </p:sp>
      <p:sp>
        <p:nvSpPr>
          <p:cNvPr id="11" name="Text 9"/>
          <p:cNvSpPr/>
          <p:nvPr/>
        </p:nvSpPr>
        <p:spPr>
          <a:xfrm>
            <a:off x="621506" y="1740284"/>
            <a:ext cx="197172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4"/>
              </a:lnSpc>
              <a:buNone/>
            </a:pPr>
            <a:r>
              <a:rPr lang="en-US" sz="816" dirty="0">
                <a:solidFill>
                  <a:srgbClr val="FF6B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-H</a:t>
            </a:r>
            <a:endParaRPr lang="en-US" sz="816" dirty="0"/>
          </a:p>
        </p:txBody>
      </p:sp>
      <p:sp>
        <p:nvSpPr>
          <p:cNvPr id="12" name="Text 10"/>
          <p:cNvSpPr/>
          <p:nvPr/>
        </p:nvSpPr>
        <p:spPr>
          <a:xfrm>
            <a:off x="808695" y="1740284"/>
            <a:ext cx="1534910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4"/>
              </a:lnSpc>
              <a:buNone/>
            </a:pPr>
            <a:r>
              <a:rPr lang="en-US" sz="816" dirty="0">
                <a:solidFill>
                  <a:srgbClr val="4CC9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"X-API-Key: r1a_sk_…"</a:t>
            </a:r>
            <a:endParaRPr lang="en-US" sz="816" dirty="0"/>
          </a:p>
        </p:txBody>
      </p:sp>
      <p:sp>
        <p:nvSpPr>
          <p:cNvPr id="13" name="Text 11"/>
          <p:cNvSpPr/>
          <p:nvPr/>
        </p:nvSpPr>
        <p:spPr>
          <a:xfrm>
            <a:off x="621506" y="1962969"/>
            <a:ext cx="197172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4"/>
              </a:lnSpc>
              <a:buNone/>
            </a:pPr>
            <a:r>
              <a:rPr lang="en-US" sz="816" dirty="0">
                <a:solidFill>
                  <a:srgbClr val="FF6B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-d</a:t>
            </a:r>
            <a:endParaRPr lang="en-US" sz="816" dirty="0"/>
          </a:p>
        </p:txBody>
      </p:sp>
      <p:sp>
        <p:nvSpPr>
          <p:cNvPr id="14" name="Text 12"/>
          <p:cNvSpPr/>
          <p:nvPr/>
        </p:nvSpPr>
        <p:spPr>
          <a:xfrm>
            <a:off x="808695" y="1962969"/>
            <a:ext cx="3367608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4"/>
              </a:lnSpc>
              <a:buNone/>
            </a:pPr>
            <a:r>
              <a:rPr lang="en-US" sz="816" dirty="0">
                <a:solidFill>
                  <a:srgbClr val="4CC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'{"type":"goto","joints":[0.5,0.1,-0.8,0.55,0,0,0.3]}'</a:t>
            </a:r>
            <a:endParaRPr lang="en-US" sz="816" dirty="0"/>
          </a:p>
        </p:txBody>
      </p:sp>
      <p:sp>
        <p:nvSpPr>
          <p:cNvPr id="15" name="Text 13"/>
          <p:cNvSpPr/>
          <p:nvPr/>
        </p:nvSpPr>
        <p:spPr>
          <a:xfrm>
            <a:off x="457200" y="258369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6B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628650" y="2571192"/>
            <a:ext cx="948082" cy="15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WS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訂閱遙測流</a:t>
            </a:r>
            <a:endParaRPr lang="en-US" sz="731" dirty="0"/>
          </a:p>
        </p:txBody>
      </p:sp>
      <p:sp>
        <p:nvSpPr>
          <p:cNvPr id="17" name="Text 15"/>
          <p:cNvSpPr/>
          <p:nvPr/>
        </p:nvSpPr>
        <p:spPr>
          <a:xfrm>
            <a:off x="1444265" y="2637272"/>
            <a:ext cx="3437037" cy="7144"/>
          </a:xfrm>
          <a:prstGeom prst="rect">
            <a:avLst/>
          </a:prstGeom>
          <a:solidFill>
            <a:srgbClr val="2A3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60772" y="2771217"/>
            <a:ext cx="4416958" cy="681112"/>
          </a:xfrm>
          <a:prstGeom prst="roundRect">
            <a:avLst>
              <a:gd name="adj" fmla="val 13984"/>
            </a:avLst>
          </a:prstGeom>
          <a:solidFill>
            <a:srgbClr val="0D1117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1506" y="2889089"/>
            <a:ext cx="4095490" cy="195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4"/>
              </a:lnSpc>
              <a:buNone/>
            </a:pPr>
            <a:r>
              <a:rPr lang="en-US" sz="816" dirty="0">
                <a:solidFill>
                  <a:srgbClr val="FF6B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socket.emit</a:t>
            </a:r>
            <a:pPr algn="l" indent="0" marL="0">
              <a:lnSpc>
                <a:spcPts val="1754"/>
              </a:lnSpc>
              <a:buNone/>
            </a:pPr>
            <a:r>
              <a:rPr lang="en-US" sz="816" dirty="0">
                <a:solidFill>
                  <a:srgbClr val="C9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754"/>
              </a:lnSpc>
              <a:buNone/>
            </a:pPr>
            <a:r>
              <a:rPr lang="en-US" sz="816" dirty="0">
                <a:solidFill>
                  <a:srgbClr val="4CC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'subscribe'</a:t>
            </a:r>
            <a:pPr algn="l" indent="0" marL="0">
              <a:lnSpc>
                <a:spcPts val="1754"/>
              </a:lnSpc>
              <a:buNone/>
            </a:pPr>
            <a:r>
              <a:rPr lang="en-US" sz="816" dirty="0">
                <a:solidFill>
                  <a:srgbClr val="C9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{ topics: [</a:t>
            </a:r>
            <a:pPr algn="l" indent="0" marL="0">
              <a:lnSpc>
                <a:spcPts val="1754"/>
              </a:lnSpc>
              <a:buNone/>
            </a:pPr>
            <a:r>
              <a:rPr lang="en-US" sz="816" dirty="0">
                <a:solidFill>
                  <a:srgbClr val="4CC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'/joint_states'</a:t>
            </a:r>
            <a:pPr algn="l" indent="0" marL="0">
              <a:lnSpc>
                <a:spcPts val="1754"/>
              </a:lnSpc>
              <a:buNone/>
            </a:pPr>
            <a:r>
              <a:rPr lang="en-US" sz="816" dirty="0">
                <a:solidFill>
                  <a:srgbClr val="C9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})</a:t>
            </a:r>
            <a:endParaRPr lang="en-US" sz="816" dirty="0"/>
          </a:p>
        </p:txBody>
      </p:sp>
      <p:sp>
        <p:nvSpPr>
          <p:cNvPr id="20" name="Text 18"/>
          <p:cNvSpPr/>
          <p:nvPr/>
        </p:nvSpPr>
        <p:spPr>
          <a:xfrm>
            <a:off x="621506" y="3161779"/>
            <a:ext cx="1452755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4"/>
              </a:lnSpc>
              <a:buNone/>
            </a:pPr>
            <a:r>
              <a:rPr lang="en-US" sz="816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實測 ≈ </a:t>
            </a:r>
            <a:pPr algn="l" indent="0" marL="0">
              <a:lnSpc>
                <a:spcPts val="1754"/>
              </a:lnSpc>
              <a:buNone/>
            </a:pPr>
            <a:r>
              <a:rPr lang="en-US" sz="816" dirty="0">
                <a:solidFill>
                  <a:srgbClr val="97A3B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9.6 Hz</a:t>
            </a:r>
            <a:pPr algn="l" indent="0" marL="0">
              <a:lnSpc>
                <a:spcPts val="1754"/>
              </a:lnSpc>
              <a:buNone/>
            </a:pPr>
            <a:r>
              <a:rPr lang="en-US" sz="816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串流</a:t>
            </a:r>
            <a:endParaRPr lang="en-US" sz="816" dirty="0"/>
          </a:p>
        </p:txBody>
      </p:sp>
      <p:sp>
        <p:nvSpPr>
          <p:cNvPr id="21" name="Text 19"/>
          <p:cNvSpPr/>
          <p:nvPr/>
        </p:nvSpPr>
        <p:spPr>
          <a:xfrm>
            <a:off x="460772" y="3773574"/>
            <a:ext cx="4416958" cy="298252"/>
          </a:xfrm>
          <a:prstGeom prst="roundRect">
            <a:avLst>
              <a:gd name="adj" fmla="val 3190414"/>
            </a:avLst>
          </a:prstGeom>
          <a:solidFill>
            <a:srgbClr val="1B2330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92931" y="386555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6B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778669" y="3855727"/>
            <a:ext cx="3966902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4CC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 / poses / trajectories / keys / system</a:t>
            </a:r>
            <a:pPr algn="l" indent="0" marL="0">
              <a:lnSpc>
                <a:spcPts val="1200"/>
              </a:lnSpc>
              <a:buNone/>
            </a:pPr>
            <a:r>
              <a:rPr lang="en-US" sz="703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五組資源</a:t>
            </a:r>
            <a:endParaRPr lang="en-US" sz="703" dirty="0"/>
          </a:p>
        </p:txBody>
      </p:sp>
      <p:sp>
        <p:nvSpPr>
          <p:cNvPr id="24" name="Text 22"/>
          <p:cNvSpPr/>
          <p:nvPr/>
        </p:nvSpPr>
        <p:spPr>
          <a:xfrm>
            <a:off x="460772" y="4150407"/>
            <a:ext cx="4416958" cy="298252"/>
          </a:xfrm>
          <a:prstGeom prst="roundRect">
            <a:avLst>
              <a:gd name="adj" fmla="val 3190414"/>
            </a:avLst>
          </a:prstGeom>
          <a:solidFill>
            <a:srgbClr val="1B2330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92931" y="424238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6B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778669" y="4232560"/>
            <a:ext cx="3966902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r1a_sk_</a:t>
            </a:r>
            <a:pPr algn="l" indent="0" marL="0">
              <a:lnSpc>
                <a:spcPts val="1200"/>
              </a:lnSpc>
              <a:buNone/>
            </a:pPr>
            <a:r>
              <a:rPr lang="en-US" sz="703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前綴 · 一次性完整顯示 · 掩碼存儲</a:t>
            </a:r>
            <a:endParaRPr lang="en-US" sz="703" dirty="0"/>
          </a:p>
        </p:txBody>
      </p:sp>
      <p:sp>
        <p:nvSpPr>
          <p:cNvPr id="27" name="Text 25"/>
          <p:cNvSpPr/>
          <p:nvPr/>
        </p:nvSpPr>
        <p:spPr>
          <a:xfrm>
            <a:off x="460772" y="4527240"/>
            <a:ext cx="4416958" cy="298252"/>
          </a:xfrm>
          <a:prstGeom prst="roundRect">
            <a:avLst>
              <a:gd name="adj" fmla="val 3190414"/>
            </a:avLst>
          </a:prstGeom>
          <a:solidFill>
            <a:srgbClr val="1B2330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92931" y="461921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6B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778669" y="4609393"/>
            <a:ext cx="3966902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重新生成 · 啟用開關</a:t>
            </a:r>
            <a:endParaRPr lang="en-US" sz="703" dirty="0"/>
          </a:p>
        </p:txBody>
      </p:sp>
      <p:sp>
        <p:nvSpPr>
          <p:cNvPr id="30" name="Text 28"/>
          <p:cNvSpPr/>
          <p:nvPr/>
        </p:nvSpPr>
        <p:spPr>
          <a:xfrm>
            <a:off x="5070611" y="1153269"/>
            <a:ext cx="3612617" cy="2135981"/>
          </a:xfrm>
          <a:prstGeom prst="roundRect">
            <a:avLst>
              <a:gd name="adj" fmla="val 5351"/>
            </a:avLst>
          </a:prstGeom>
          <a:solidFill>
            <a:srgbClr val="0D1117"/>
          </a:solidFill>
          <a:ln w="7144">
            <a:solidFill>
              <a:srgbClr val="2A3444"/>
            </a:solidFill>
            <a:prstDash val="solid"/>
          </a:ln>
          <a:effectLst>
            <a:outerShdw sx="100000" sy="100000" kx="0" ky="0" algn="bl" rotWithShape="0" blurRad="419100" dist="171450" dir="5400000">
              <a:srgbClr val="000000">
                <a:alpha val="5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1" name="Image 0" descr="/tmp/h2p-fit-1793162844644-0pf2o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183" y="1156841"/>
            <a:ext cx="3605473" cy="2128838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5070611" y="3367832"/>
            <a:ext cx="3612617" cy="275034"/>
          </a:xfrm>
          <a:prstGeom prst="roundRect">
            <a:avLst>
              <a:gd name="adj" fmla="val 48485"/>
            </a:avLst>
          </a:prstGeom>
          <a:solidFill>
            <a:srgbClr val="1B2330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5188483" y="3444627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FF6B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195" dirty="0"/>
          </a:p>
        </p:txBody>
      </p:sp>
      <p:sp>
        <p:nvSpPr>
          <p:cNvPr id="34" name="Text 31"/>
          <p:cNvSpPr/>
          <p:nvPr/>
        </p:nvSpPr>
        <p:spPr>
          <a:xfrm>
            <a:off x="5381365" y="3435697"/>
            <a:ext cx="318399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Keys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管理台</a:t>
            </a:r>
            <a:endParaRPr lang="en-US" sz="731" dirty="0"/>
          </a:p>
        </p:txBody>
      </p:sp>
      <p:sp>
        <p:nvSpPr>
          <p:cNvPr id="35" name="Text 32"/>
          <p:cNvSpPr/>
          <p:nvPr/>
        </p:nvSpPr>
        <p:spPr>
          <a:xfrm>
            <a:off x="5070611" y="3735735"/>
            <a:ext cx="3612617" cy="1089868"/>
          </a:xfrm>
          <a:prstGeom prst="roundRect">
            <a:avLst>
              <a:gd name="adj" fmla="val 12235"/>
            </a:avLst>
          </a:prstGeom>
          <a:solidFill>
            <a:srgbClr val="141A23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3"/>
          <p:cNvSpPr/>
          <p:nvPr/>
        </p:nvSpPr>
        <p:spPr>
          <a:xfrm>
            <a:off x="5202771" y="4101964"/>
            <a:ext cx="3348298" cy="0"/>
          </a:xfrm>
          <a:prstGeom prst="line">
            <a:avLst/>
          </a:prstGeom>
          <a:noFill/>
          <a:ln w="7144">
            <a:solidFill>
              <a:srgbClr val="2A344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202771" y="3893009"/>
            <a:ext cx="776383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7A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viewer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831421" y="3887651"/>
            <a:ext cx="9144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6B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5973068" y="3890330"/>
            <a:ext cx="2578001" cy="13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唯讀遙測/查詢</a:t>
            </a:r>
            <a:endParaRPr lang="en-US" sz="703" dirty="0"/>
          </a:p>
        </p:txBody>
      </p:sp>
      <p:sp>
        <p:nvSpPr>
          <p:cNvPr id="40" name="Shape 37"/>
          <p:cNvSpPr/>
          <p:nvPr/>
        </p:nvSpPr>
        <p:spPr>
          <a:xfrm>
            <a:off x="5202771" y="4425330"/>
            <a:ext cx="3348298" cy="0"/>
          </a:xfrm>
          <a:prstGeom prst="line">
            <a:avLst/>
          </a:prstGeom>
          <a:noFill/>
          <a:ln w="7144">
            <a:solidFill>
              <a:srgbClr val="2A344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202771" y="4216375"/>
            <a:ext cx="776383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CC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operator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5831421" y="4211017"/>
            <a:ext cx="9144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6B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5973068" y="4213696"/>
            <a:ext cx="2578001" cy="13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運動指令 + 姿勢/軌跡執行</a:t>
            </a:r>
            <a:endParaRPr lang="en-US" sz="703" dirty="0"/>
          </a:p>
        </p:txBody>
      </p:sp>
      <p:sp>
        <p:nvSpPr>
          <p:cNvPr id="44" name="Text 41"/>
          <p:cNvSpPr/>
          <p:nvPr/>
        </p:nvSpPr>
        <p:spPr>
          <a:xfrm>
            <a:off x="5202771" y="4539742"/>
            <a:ext cx="8686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F6B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5831421" y="4534384"/>
            <a:ext cx="9144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6B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5973068" y="4537063"/>
            <a:ext cx="257800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全部含 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zero_torque / reset</a:t>
            </a:r>
            <a:endParaRPr lang="en-US" sz="703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3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28575" cy="5143500"/>
          </a:xfrm>
          <a:prstGeom prst="rect">
            <a:avLst/>
          </a:prstGeom>
          <a:solidFill>
            <a:srgbClr val="FF6B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" y="342900"/>
            <a:ext cx="4143375" cy="307181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57175" y="342900"/>
            <a:ext cx="4143375" cy="307181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628650" y="471488"/>
            <a:ext cx="6444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42" kern="0" dirty="0">
                <a:solidFill>
                  <a:srgbClr val="FF6B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600075" y="871538"/>
            <a:ext cx="2621935" cy="1296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0"/>
              </a:lnSpc>
              <a:buNone/>
            </a:pPr>
            <a:r>
              <a:rPr lang="en-US" sz="11813" b="1" spc="-118" kern="0" dirty="0">
                <a:solidFill>
                  <a:srgbClr val="FF6B1A">
                    <a:alpha val="1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1813" dirty="0"/>
          </a:p>
        </p:txBody>
      </p:sp>
      <p:sp>
        <p:nvSpPr>
          <p:cNvPr id="8" name="Text 4"/>
          <p:cNvSpPr/>
          <p:nvPr/>
        </p:nvSpPr>
        <p:spPr>
          <a:xfrm>
            <a:off x="2395947" y="1650206"/>
            <a:ext cx="825818" cy="455200"/>
          </a:xfrm>
          <a:prstGeom prst="rect">
            <a:avLst/>
          </a:prstGeom>
          <a:noFill/>
          <a:ln/>
        </p:spPr>
        <p:txBody>
          <a:bodyPr wrap="none" lIns="0" tIns="0" rIns="0" bIns="100013" rtlCol="0" anchor="t"/>
          <a:lstStyle/>
          <a:p>
            <a:pPr algn="l" indent="0" marL="0">
              <a:lnSpc>
                <a:spcPts val="2531"/>
              </a:lnSpc>
              <a:buNone/>
            </a:pPr>
            <a:r>
              <a:rPr lang="en-US" sz="1688" dirty="0">
                <a:solidFill>
                  <a:srgbClr val="97A3B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02</a:t>
            </a:r>
            <a:endParaRPr lang="en-US" sz="1688" dirty="0"/>
          </a:p>
        </p:txBody>
      </p:sp>
      <p:sp>
        <p:nvSpPr>
          <p:cNvPr id="9" name="Text 5"/>
          <p:cNvSpPr/>
          <p:nvPr/>
        </p:nvSpPr>
        <p:spPr>
          <a:xfrm>
            <a:off x="628650" y="2471738"/>
            <a:ext cx="3649742" cy="526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36"/>
              </a:lnSpc>
              <a:buNone/>
            </a:pPr>
            <a:r>
              <a:rPr lang="en-US" sz="3488" b="1" spc="105" kern="0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驗證與落地</a:t>
            </a:r>
            <a:endParaRPr lang="en-US" sz="3488" dirty="0"/>
          </a:p>
        </p:txBody>
      </p:sp>
      <p:sp>
        <p:nvSpPr>
          <p:cNvPr id="10" name="Text 6"/>
          <p:cNvSpPr/>
          <p:nvPr/>
        </p:nvSpPr>
        <p:spPr>
          <a:xfrm>
            <a:off x="628650" y="3087439"/>
            <a:ext cx="2764679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41" kern="0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實測數據説話 · 真機部署路徑已鋪好</a:t>
            </a:r>
            <a:endParaRPr lang="en-US" sz="1013" dirty="0"/>
          </a:p>
        </p:txBody>
      </p:sp>
      <p:sp>
        <p:nvSpPr>
          <p:cNvPr id="11" name="Text 7"/>
          <p:cNvSpPr/>
          <p:nvPr/>
        </p:nvSpPr>
        <p:spPr>
          <a:xfrm>
            <a:off x="5899956" y="4425253"/>
            <a:ext cx="1000906" cy="302424"/>
          </a:xfrm>
          <a:prstGeom prst="roundRect">
            <a:avLst>
              <a:gd name="adj" fmla="val 3146402"/>
            </a:avLst>
          </a:prstGeom>
          <a:solidFill>
            <a:srgbClr val="1B2330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6199994" y="4523780"/>
            <a:ext cx="743731" cy="10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E8EDF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E2E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驗證矩陣</a:t>
            </a:r>
            <a:endParaRPr lang="en-US" sz="703" dirty="0"/>
          </a:p>
        </p:txBody>
      </p:sp>
      <p:sp>
        <p:nvSpPr>
          <p:cNvPr id="13" name="Text 9"/>
          <p:cNvSpPr/>
          <p:nvPr/>
        </p:nvSpPr>
        <p:spPr>
          <a:xfrm>
            <a:off x="6035687" y="4522887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97A3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055" dirty="0"/>
          </a:p>
        </p:txBody>
      </p:sp>
      <p:sp>
        <p:nvSpPr>
          <p:cNvPr id="14" name="Text 10"/>
          <p:cNvSpPr/>
          <p:nvPr/>
        </p:nvSpPr>
        <p:spPr>
          <a:xfrm>
            <a:off x="6986588" y="4425253"/>
            <a:ext cx="900113" cy="302424"/>
          </a:xfrm>
          <a:prstGeom prst="roundRect">
            <a:avLst>
              <a:gd name="adj" fmla="val 3146402"/>
            </a:avLst>
          </a:prstGeom>
          <a:solidFill>
            <a:srgbClr val="1B2330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7286625" y="4523780"/>
            <a:ext cx="642938" cy="10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真機部署包</a:t>
            </a:r>
            <a:endParaRPr lang="en-US" sz="703" dirty="0"/>
          </a:p>
        </p:txBody>
      </p:sp>
      <p:sp>
        <p:nvSpPr>
          <p:cNvPr id="16" name="Text 12"/>
          <p:cNvSpPr/>
          <p:nvPr/>
        </p:nvSpPr>
        <p:spPr>
          <a:xfrm>
            <a:off x="7122319" y="4522887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97A3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055" dirty="0"/>
          </a:p>
        </p:txBody>
      </p:sp>
      <p:sp>
        <p:nvSpPr>
          <p:cNvPr id="17" name="Text 13"/>
          <p:cNvSpPr/>
          <p:nvPr/>
        </p:nvSpPr>
        <p:spPr>
          <a:xfrm>
            <a:off x="7972425" y="4425253"/>
            <a:ext cx="714375" cy="302424"/>
          </a:xfrm>
          <a:prstGeom prst="roundRect">
            <a:avLst>
              <a:gd name="adj" fmla="val 3146402"/>
            </a:avLst>
          </a:prstGeom>
          <a:solidFill>
            <a:srgbClr val="1B2330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8272463" y="4523780"/>
            <a:ext cx="414338" cy="10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路線圖</a:t>
            </a:r>
            <a:endParaRPr lang="en-US" sz="703" dirty="0"/>
          </a:p>
        </p:txBody>
      </p:sp>
      <p:sp>
        <p:nvSpPr>
          <p:cNvPr id="19" name="Text 15"/>
          <p:cNvSpPr/>
          <p:nvPr/>
        </p:nvSpPr>
        <p:spPr>
          <a:xfrm>
            <a:off x="8108156" y="4522887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97A3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05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71475"/>
            <a:ext cx="3296284" cy="156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42" kern="0" dirty="0">
                <a:solidFill>
                  <a:srgbClr val="FF6B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· VERIFICATION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55427"/>
            <a:ext cx="3127248" cy="33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2138" b="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全部實測，不是承諾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7647295" y="620760"/>
            <a:ext cx="1062365" cy="259561"/>
          </a:xfrm>
          <a:prstGeom prst="roundRect">
            <a:avLst>
              <a:gd name="adj" fmla="val 3665988"/>
            </a:avLst>
          </a:prstGeom>
          <a:solidFill>
            <a:srgbClr val="34D399">
              <a:alpha val="8000"/>
            </a:srgbClr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918207" y="690711"/>
            <a:ext cx="784860" cy="131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10 PASS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7311" y="696962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055" dirty="0"/>
          </a:p>
        </p:txBody>
      </p:sp>
      <p:sp>
        <p:nvSpPr>
          <p:cNvPr id="7" name="Text 5"/>
          <p:cNvSpPr/>
          <p:nvPr/>
        </p:nvSpPr>
        <p:spPr>
          <a:xfrm>
            <a:off x="460772" y="1042541"/>
            <a:ext cx="1953816" cy="898327"/>
          </a:xfrm>
          <a:prstGeom prst="roundRect">
            <a:avLst>
              <a:gd name="adj" fmla="val 14844"/>
            </a:avLst>
          </a:prstGeom>
          <a:solidFill>
            <a:srgbClr val="141A23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146697" y="1174700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97A3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◎</a:t>
            </a:r>
            <a:endParaRPr lang="en-US" sz="1336" dirty="0"/>
          </a:p>
        </p:txBody>
      </p:sp>
      <p:sp>
        <p:nvSpPr>
          <p:cNvPr id="9" name="Text 7"/>
          <p:cNvSpPr/>
          <p:nvPr/>
        </p:nvSpPr>
        <p:spPr>
          <a:xfrm>
            <a:off x="621506" y="1217563"/>
            <a:ext cx="1632347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813" spc="-28" kern="0" dirty="0">
                <a:solidFill>
                  <a:srgbClr val="FF6B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pPr algn="l" indent="0" marL="0">
              <a:lnSpc>
                <a:spcPts val="2813"/>
              </a:lnSpc>
              <a:buNone/>
            </a:pPr>
            <a:r>
              <a:rPr lang="en-US" sz="1238" spc="-28" kern="0" dirty="0">
                <a:solidFill>
                  <a:srgbClr val="FF6B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rad</a:t>
            </a:r>
            <a:endParaRPr lang="en-US" sz="2813" dirty="0"/>
          </a:p>
        </p:txBody>
      </p:sp>
      <p:sp>
        <p:nvSpPr>
          <p:cNvPr id="10" name="Text 8"/>
          <p:cNvSpPr/>
          <p:nvPr/>
        </p:nvSpPr>
        <p:spPr>
          <a:xfrm>
            <a:off x="621506" y="1660475"/>
            <a:ext cx="1632347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7A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goto</a:t>
            </a:r>
            <a:pPr algn="l" indent="0" marL="0">
              <a:lnSpc>
                <a:spcPts val="120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定位誤差（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7A3B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pPr algn="l" indent="0" marL="0">
              <a:lnSpc>
                <a:spcPts val="120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關節全部為零）</a:t>
            </a:r>
            <a:endParaRPr lang="en-US" sz="703" dirty="0"/>
          </a:p>
        </p:txBody>
      </p:sp>
      <p:sp>
        <p:nvSpPr>
          <p:cNvPr id="11" name="Text 9"/>
          <p:cNvSpPr/>
          <p:nvPr/>
        </p:nvSpPr>
        <p:spPr>
          <a:xfrm>
            <a:off x="2550319" y="1042541"/>
            <a:ext cx="1953816" cy="898327"/>
          </a:xfrm>
          <a:prstGeom prst="roundRect">
            <a:avLst>
              <a:gd name="adj" fmla="val 14844"/>
            </a:avLst>
          </a:prstGeom>
          <a:solidFill>
            <a:srgbClr val="141A23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236244" y="1174700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97A3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336" dirty="0"/>
          </a:p>
        </p:txBody>
      </p:sp>
      <p:sp>
        <p:nvSpPr>
          <p:cNvPr id="13" name="Text 11"/>
          <p:cNvSpPr/>
          <p:nvPr/>
        </p:nvSpPr>
        <p:spPr>
          <a:xfrm>
            <a:off x="2711053" y="1217563"/>
            <a:ext cx="1632347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813" spc="-28" kern="0" dirty="0">
                <a:solidFill>
                  <a:srgbClr val="FF6B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9.6</a:t>
            </a:r>
            <a:pPr algn="l" indent="0" marL="0">
              <a:lnSpc>
                <a:spcPts val="2813"/>
              </a:lnSpc>
              <a:buNone/>
            </a:pPr>
            <a:r>
              <a:rPr lang="en-US" sz="1238" spc="-28" kern="0" dirty="0">
                <a:solidFill>
                  <a:srgbClr val="FF6B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Hz</a:t>
            </a:r>
            <a:endParaRPr lang="en-US" sz="2813" dirty="0"/>
          </a:p>
        </p:txBody>
      </p:sp>
      <p:sp>
        <p:nvSpPr>
          <p:cNvPr id="14" name="Text 12"/>
          <p:cNvSpPr/>
          <p:nvPr/>
        </p:nvSpPr>
        <p:spPr>
          <a:xfrm>
            <a:off x="2711053" y="1660475"/>
            <a:ext cx="1632347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7A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/joint_states</a:t>
            </a:r>
            <a:pPr algn="l" indent="0" marL="0">
              <a:lnSpc>
                <a:spcPts val="120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20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WS</a:t>
            </a:r>
            <a:pPr algn="l" indent="0" marL="0">
              <a:lnSpc>
                <a:spcPts val="120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串流實測</a:t>
            </a:r>
            <a:endParaRPr lang="en-US" sz="703" dirty="0"/>
          </a:p>
        </p:txBody>
      </p:sp>
      <p:sp>
        <p:nvSpPr>
          <p:cNvPr id="15" name="Text 13"/>
          <p:cNvSpPr/>
          <p:nvPr/>
        </p:nvSpPr>
        <p:spPr>
          <a:xfrm>
            <a:off x="4639866" y="1042541"/>
            <a:ext cx="1953816" cy="898327"/>
          </a:xfrm>
          <a:prstGeom prst="roundRect">
            <a:avLst>
              <a:gd name="adj" fmla="val 14844"/>
            </a:avLst>
          </a:prstGeom>
          <a:solidFill>
            <a:srgbClr val="141A23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25791" y="1174700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97A3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336" dirty="0"/>
          </a:p>
        </p:txBody>
      </p:sp>
      <p:sp>
        <p:nvSpPr>
          <p:cNvPr id="17" name="Text 15"/>
          <p:cNvSpPr/>
          <p:nvPr/>
        </p:nvSpPr>
        <p:spPr>
          <a:xfrm>
            <a:off x="4800600" y="1217563"/>
            <a:ext cx="1632347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813" spc="-28" kern="0" dirty="0">
                <a:solidFill>
                  <a:srgbClr val="FF6B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endParaRPr lang="en-US" sz="2813" dirty="0"/>
          </a:p>
        </p:txBody>
      </p:sp>
      <p:sp>
        <p:nvSpPr>
          <p:cNvPr id="18" name="Text 16"/>
          <p:cNvSpPr/>
          <p:nvPr/>
        </p:nvSpPr>
        <p:spPr>
          <a:xfrm>
            <a:off x="4800600" y="1660475"/>
            <a:ext cx="1632347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E2E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全程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console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errors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ESLint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錯誤</a:t>
            </a:r>
            <a:endParaRPr lang="en-US" sz="703" dirty="0"/>
          </a:p>
        </p:txBody>
      </p:sp>
      <p:sp>
        <p:nvSpPr>
          <p:cNvPr id="19" name="Text 17"/>
          <p:cNvSpPr/>
          <p:nvPr/>
        </p:nvSpPr>
        <p:spPr>
          <a:xfrm>
            <a:off x="6729413" y="1042541"/>
            <a:ext cx="1953816" cy="898327"/>
          </a:xfrm>
          <a:prstGeom prst="roundRect">
            <a:avLst>
              <a:gd name="adj" fmla="val 14844"/>
            </a:avLst>
          </a:prstGeom>
          <a:solidFill>
            <a:srgbClr val="141A23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415338" y="1174700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97A3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336" dirty="0"/>
          </a:p>
        </p:txBody>
      </p:sp>
      <p:sp>
        <p:nvSpPr>
          <p:cNvPr id="21" name="Text 19"/>
          <p:cNvSpPr/>
          <p:nvPr/>
        </p:nvSpPr>
        <p:spPr>
          <a:xfrm>
            <a:off x="6890147" y="1217563"/>
            <a:ext cx="1632347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813" spc="-28" kern="0" dirty="0">
                <a:solidFill>
                  <a:srgbClr val="FF6B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</a:t>
            </a:r>
            <a:pPr algn="l" indent="0" marL="0">
              <a:lnSpc>
                <a:spcPts val="2813"/>
              </a:lnSpc>
              <a:buNone/>
            </a:pPr>
            <a:r>
              <a:rPr lang="en-US" sz="1238" spc="-28" kern="0" dirty="0">
                <a:solidFill>
                  <a:srgbClr val="FF6B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2813" dirty="0"/>
          </a:p>
        </p:txBody>
      </p:sp>
      <p:sp>
        <p:nvSpPr>
          <p:cNvPr id="22" name="Text 20"/>
          <p:cNvSpPr/>
          <p:nvPr/>
        </p:nvSpPr>
        <p:spPr>
          <a:xfrm>
            <a:off x="6890147" y="1660475"/>
            <a:ext cx="1632347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指令審計入庫率</a:t>
            </a:r>
            <a:endParaRPr lang="en-US" sz="703" dirty="0"/>
          </a:p>
        </p:txBody>
      </p:sp>
      <p:sp>
        <p:nvSpPr>
          <p:cNvPr id="23" name="Text 21"/>
          <p:cNvSpPr/>
          <p:nvPr/>
        </p:nvSpPr>
        <p:spPr>
          <a:xfrm>
            <a:off x="460772" y="2090886"/>
            <a:ext cx="8222456" cy="2706142"/>
          </a:xfrm>
          <a:prstGeom prst="roundRect">
            <a:avLst>
              <a:gd name="adj" fmla="val 4928"/>
            </a:avLst>
          </a:prstGeom>
          <a:solidFill>
            <a:srgbClr val="141A23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50081" y="2258764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FF6B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95" dirty="0"/>
          </a:p>
        </p:txBody>
      </p:sp>
      <p:sp>
        <p:nvSpPr>
          <p:cNvPr id="25" name="Text 23"/>
          <p:cNvSpPr/>
          <p:nvPr/>
        </p:nvSpPr>
        <p:spPr>
          <a:xfrm>
            <a:off x="835819" y="2223046"/>
            <a:ext cx="1015270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E8EDF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E2E</a:t>
            </a:r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驗證矩陣</a:t>
            </a:r>
            <a:endParaRPr lang="en-US" sz="1013" dirty="0"/>
          </a:p>
        </p:txBody>
      </p:sp>
      <p:sp>
        <p:nvSpPr>
          <p:cNvPr id="26" name="Text 24"/>
          <p:cNvSpPr/>
          <p:nvPr/>
        </p:nvSpPr>
        <p:spPr>
          <a:xfrm>
            <a:off x="7902489" y="2263229"/>
            <a:ext cx="60388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spc="83" kern="0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= 實測通過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650081" y="2897907"/>
            <a:ext cx="3707606" cy="0"/>
          </a:xfrm>
          <a:prstGeom prst="line">
            <a:avLst/>
          </a:prstGeom>
          <a:noFill/>
          <a:ln w="7144">
            <a:solidFill>
              <a:srgbClr val="2A3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0081" y="2603339"/>
            <a:ext cx="3228863" cy="142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E8EDF4">
                    <a:alpha val="9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goto</a:t>
            </a:r>
            <a:pPr algn="l" indent="0" marL="0">
              <a:lnSpc>
                <a:spcPts val="1120"/>
              </a:lnSpc>
              <a:buNone/>
            </a:pPr>
            <a:r>
              <a:rPr lang="en-US" sz="703" dirty="0">
                <a:solidFill>
                  <a:srgbClr val="E8EDF4">
                    <a:alpha val="9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E8EDF4">
                    <a:alpha val="92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pPr algn="l" indent="0" marL="0">
              <a:lnSpc>
                <a:spcPts val="1120"/>
              </a:lnSpc>
              <a:buNone/>
            </a:pPr>
            <a:r>
              <a:rPr lang="en-US" sz="703" dirty="0">
                <a:solidFill>
                  <a:srgbClr val="E8EDF4">
                    <a:alpha val="9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元素陣列到位</a:t>
            </a:r>
            <a:endParaRPr lang="en-US" sz="703" dirty="0"/>
          </a:p>
        </p:txBody>
      </p:sp>
      <p:sp>
        <p:nvSpPr>
          <p:cNvPr id="29" name="Text 27"/>
          <p:cNvSpPr/>
          <p:nvPr/>
        </p:nvSpPr>
        <p:spPr>
          <a:xfrm>
            <a:off x="3936095" y="2615840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055" dirty="0"/>
          </a:p>
        </p:txBody>
      </p:sp>
      <p:sp>
        <p:nvSpPr>
          <p:cNvPr id="30" name="Text 28"/>
          <p:cNvSpPr/>
          <p:nvPr/>
        </p:nvSpPr>
        <p:spPr>
          <a:xfrm>
            <a:off x="4057058" y="2603339"/>
            <a:ext cx="336828" cy="142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03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誤差 </a:t>
            </a:r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endParaRPr lang="en-US" sz="703" dirty="0"/>
          </a:p>
        </p:txBody>
      </p:sp>
      <p:sp>
        <p:nvSpPr>
          <p:cNvPr id="31" name="Shape 29"/>
          <p:cNvSpPr/>
          <p:nvPr/>
        </p:nvSpPr>
        <p:spPr>
          <a:xfrm>
            <a:off x="650081" y="3354884"/>
            <a:ext cx="3707606" cy="0"/>
          </a:xfrm>
          <a:prstGeom prst="line">
            <a:avLst/>
          </a:prstGeom>
          <a:noFill/>
          <a:ln w="7144">
            <a:solidFill>
              <a:srgbClr val="2A3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0081" y="3060316"/>
            <a:ext cx="3121819" cy="142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E8EDF4">
                    <a:alpha val="92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J1</a:t>
            </a:r>
            <a:pPr algn="l" indent="0" marL="0">
              <a:lnSpc>
                <a:spcPts val="1120"/>
              </a:lnSpc>
              <a:buNone/>
            </a:pPr>
            <a:r>
              <a:rPr lang="en-US" sz="703" dirty="0">
                <a:solidFill>
                  <a:srgbClr val="E8EDF4">
                    <a:alpha val="9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超限指令 </a:t>
            </a:r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E8EDF4">
                    <a:alpha val="92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9.9 rad</a:t>
            </a:r>
            <a:endParaRPr lang="en-US" sz="703" dirty="0"/>
          </a:p>
        </p:txBody>
      </p:sp>
      <p:sp>
        <p:nvSpPr>
          <p:cNvPr id="33" name="Text 31"/>
          <p:cNvSpPr/>
          <p:nvPr/>
        </p:nvSpPr>
        <p:spPr>
          <a:xfrm>
            <a:off x="3829050" y="3072817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055" dirty="0"/>
          </a:p>
        </p:txBody>
      </p:sp>
      <p:sp>
        <p:nvSpPr>
          <p:cNvPr id="34" name="Text 32"/>
          <p:cNvSpPr/>
          <p:nvPr/>
        </p:nvSpPr>
        <p:spPr>
          <a:xfrm>
            <a:off x="3945582" y="3063887"/>
            <a:ext cx="452735" cy="135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03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正確拒絕</a:t>
            </a:r>
            <a:endParaRPr lang="en-US" sz="703" dirty="0"/>
          </a:p>
        </p:txBody>
      </p:sp>
      <p:sp>
        <p:nvSpPr>
          <p:cNvPr id="35" name="Shape 33"/>
          <p:cNvSpPr/>
          <p:nvPr/>
        </p:nvSpPr>
        <p:spPr>
          <a:xfrm>
            <a:off x="650081" y="3811860"/>
            <a:ext cx="3707606" cy="0"/>
          </a:xfrm>
          <a:prstGeom prst="line">
            <a:avLst/>
          </a:prstGeom>
          <a:noFill/>
          <a:ln w="7144">
            <a:solidFill>
              <a:srgbClr val="2A3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0081" y="3517292"/>
            <a:ext cx="3121819" cy="142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E8EDF4">
                    <a:alpha val="9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E-stop</a:t>
            </a:r>
            <a:pPr algn="l" indent="0" marL="0">
              <a:lnSpc>
                <a:spcPts val="1120"/>
              </a:lnSpc>
              <a:buNone/>
            </a:pPr>
            <a:r>
              <a:rPr lang="en-US" sz="703" dirty="0">
                <a:solidFill>
                  <a:srgbClr val="E8EDF4">
                    <a:alpha val="9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後下 </a:t>
            </a:r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E8EDF4">
                    <a:alpha val="9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goto</a:t>
            </a:r>
            <a:endParaRPr lang="en-US" sz="703" dirty="0"/>
          </a:p>
        </p:txBody>
      </p:sp>
      <p:sp>
        <p:nvSpPr>
          <p:cNvPr id="37" name="Text 35"/>
          <p:cNvSpPr/>
          <p:nvPr/>
        </p:nvSpPr>
        <p:spPr>
          <a:xfrm>
            <a:off x="3829050" y="3529794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055" dirty="0"/>
          </a:p>
        </p:txBody>
      </p:sp>
      <p:sp>
        <p:nvSpPr>
          <p:cNvPr id="38" name="Text 36"/>
          <p:cNvSpPr/>
          <p:nvPr/>
        </p:nvSpPr>
        <p:spPr>
          <a:xfrm>
            <a:off x="3945582" y="3520864"/>
            <a:ext cx="452735" cy="135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03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聯鎖阻擋</a:t>
            </a:r>
            <a:endParaRPr lang="en-US" sz="703" dirty="0"/>
          </a:p>
        </p:txBody>
      </p:sp>
      <p:sp>
        <p:nvSpPr>
          <p:cNvPr id="39" name="Shape 37"/>
          <p:cNvSpPr/>
          <p:nvPr/>
        </p:nvSpPr>
        <p:spPr>
          <a:xfrm>
            <a:off x="650081" y="4268837"/>
            <a:ext cx="3707606" cy="0"/>
          </a:xfrm>
          <a:prstGeom prst="line">
            <a:avLst/>
          </a:prstGeom>
          <a:noFill/>
          <a:ln w="7144">
            <a:solidFill>
              <a:srgbClr val="2A34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0081" y="3974269"/>
            <a:ext cx="3121819" cy="142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E8EDF4">
                    <a:alpha val="9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</a:t>
            </a:r>
            <a:pPr algn="l" indent="0" marL="0">
              <a:lnSpc>
                <a:spcPts val="1120"/>
              </a:lnSpc>
              <a:buNone/>
            </a:pPr>
            <a:r>
              <a:rPr lang="en-US" sz="703" dirty="0">
                <a:solidFill>
                  <a:srgbClr val="E8EDF4">
                    <a:alpha val="9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後恢復</a:t>
            </a:r>
            <a:endParaRPr lang="en-US" sz="703" dirty="0"/>
          </a:p>
        </p:txBody>
      </p:sp>
      <p:sp>
        <p:nvSpPr>
          <p:cNvPr id="41" name="Text 39"/>
          <p:cNvSpPr/>
          <p:nvPr/>
        </p:nvSpPr>
        <p:spPr>
          <a:xfrm>
            <a:off x="3829050" y="3986771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055" dirty="0"/>
          </a:p>
        </p:txBody>
      </p:sp>
      <p:sp>
        <p:nvSpPr>
          <p:cNvPr id="42" name="Text 40"/>
          <p:cNvSpPr/>
          <p:nvPr/>
        </p:nvSpPr>
        <p:spPr>
          <a:xfrm>
            <a:off x="3945582" y="3977841"/>
            <a:ext cx="452735" cy="135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03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正常運動</a:t>
            </a:r>
            <a:endParaRPr lang="en-US" sz="703" dirty="0"/>
          </a:p>
        </p:txBody>
      </p:sp>
      <p:sp>
        <p:nvSpPr>
          <p:cNvPr id="43" name="Text 41"/>
          <p:cNvSpPr/>
          <p:nvPr/>
        </p:nvSpPr>
        <p:spPr>
          <a:xfrm>
            <a:off x="650081" y="4431246"/>
            <a:ext cx="3332001" cy="142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E8EDF4">
                    <a:alpha val="9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viewer</a:t>
            </a:r>
            <a:pPr algn="l" indent="0" marL="0">
              <a:lnSpc>
                <a:spcPts val="1120"/>
              </a:lnSpc>
              <a:buNone/>
            </a:pPr>
            <a:r>
              <a:rPr lang="en-US" sz="703" dirty="0">
                <a:solidFill>
                  <a:srgbClr val="E8EDF4">
                    <a:alpha val="9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下控制指令</a:t>
            </a:r>
            <a:endParaRPr lang="en-US" sz="703" dirty="0"/>
          </a:p>
        </p:txBody>
      </p:sp>
      <p:sp>
        <p:nvSpPr>
          <p:cNvPr id="44" name="Text 42"/>
          <p:cNvSpPr/>
          <p:nvPr/>
        </p:nvSpPr>
        <p:spPr>
          <a:xfrm>
            <a:off x="4039233" y="4443747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055" dirty="0"/>
          </a:p>
        </p:txBody>
      </p:sp>
      <p:sp>
        <p:nvSpPr>
          <p:cNvPr id="45" name="Text 43"/>
          <p:cNvSpPr/>
          <p:nvPr/>
        </p:nvSpPr>
        <p:spPr>
          <a:xfrm>
            <a:off x="4196153" y="4431246"/>
            <a:ext cx="258552" cy="162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403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575572" y="2444502"/>
            <a:ext cx="0" cy="2277517"/>
          </a:xfrm>
          <a:prstGeom prst="line">
            <a:avLst/>
          </a:prstGeom>
          <a:noFill/>
          <a:ln w="7144">
            <a:solidFill>
              <a:srgbClr val="2A344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93456" y="2897907"/>
            <a:ext cx="3700463" cy="0"/>
          </a:xfrm>
          <a:prstGeom prst="line">
            <a:avLst/>
          </a:prstGeom>
          <a:noFill/>
          <a:ln w="7144">
            <a:solidFill>
              <a:srgbClr val="2A344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93456" y="2603339"/>
            <a:ext cx="2665512" cy="142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E8EDF4">
                    <a:alpha val="9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operator</a:t>
            </a:r>
            <a:pPr algn="l" indent="0" marL="0">
              <a:lnSpc>
                <a:spcPts val="1120"/>
              </a:lnSpc>
              <a:buNone/>
            </a:pPr>
            <a:r>
              <a:rPr lang="en-US" sz="703" dirty="0">
                <a:solidFill>
                  <a:srgbClr val="E8EDF4">
                    <a:alpha val="9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下 </a:t>
            </a:r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E8EDF4">
                    <a:alpha val="9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zero_torque</a:t>
            </a:r>
            <a:endParaRPr lang="en-US" sz="703" dirty="0"/>
          </a:p>
        </p:txBody>
      </p:sp>
      <p:sp>
        <p:nvSpPr>
          <p:cNvPr id="49" name="Text 47"/>
          <p:cNvSpPr/>
          <p:nvPr/>
        </p:nvSpPr>
        <p:spPr>
          <a:xfrm>
            <a:off x="7516118" y="2615840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055" dirty="0"/>
          </a:p>
        </p:txBody>
      </p:sp>
      <p:sp>
        <p:nvSpPr>
          <p:cNvPr id="50" name="Text 48"/>
          <p:cNvSpPr/>
          <p:nvPr/>
        </p:nvSpPr>
        <p:spPr>
          <a:xfrm>
            <a:off x="7665458" y="2603339"/>
            <a:ext cx="836283" cy="142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403</a:t>
            </a:r>
            <a:pPr algn="l" indent="0" marL="0">
              <a:lnSpc>
                <a:spcPts val="1120"/>
              </a:lnSpc>
              <a:buNone/>
            </a:pPr>
            <a:r>
              <a:rPr lang="en-US" sz="703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</a:t>
            </a:r>
            <a:pPr algn="l" indent="0" marL="0">
              <a:lnSpc>
                <a:spcPts val="1120"/>
              </a:lnSpc>
              <a:buNone/>
            </a:pPr>
            <a:r>
              <a:rPr lang="en-US" sz="703" dirty="0">
                <a:solidFill>
                  <a:srgbClr val="34D3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admin</a:t>
            </a:r>
            <a:pPr algn="l" indent="0" marL="0">
              <a:lnSpc>
                <a:spcPts val="1120"/>
              </a:lnSpc>
              <a:buNone/>
            </a:pPr>
            <a:r>
              <a:rPr lang="en-US" sz="703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專屬）</a:t>
            </a:r>
            <a:endParaRPr lang="en-US" sz="703" dirty="0"/>
          </a:p>
        </p:txBody>
      </p:sp>
      <p:sp>
        <p:nvSpPr>
          <p:cNvPr id="51" name="Shape 49"/>
          <p:cNvSpPr/>
          <p:nvPr/>
        </p:nvSpPr>
        <p:spPr>
          <a:xfrm>
            <a:off x="4793456" y="3354884"/>
            <a:ext cx="3700463" cy="0"/>
          </a:xfrm>
          <a:prstGeom prst="line">
            <a:avLst/>
          </a:prstGeom>
          <a:noFill/>
          <a:ln w="7144">
            <a:solidFill>
              <a:srgbClr val="2A344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93456" y="3060316"/>
            <a:ext cx="2552551" cy="142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03" dirty="0">
                <a:solidFill>
                  <a:srgbClr val="E8EDF4">
                    <a:alpha val="9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回放中 </a:t>
            </a:r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E8EDF4">
                    <a:alpha val="9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E-stop</a:t>
            </a:r>
            <a:endParaRPr lang="en-US" sz="703" dirty="0"/>
          </a:p>
        </p:txBody>
      </p:sp>
      <p:sp>
        <p:nvSpPr>
          <p:cNvPr id="53" name="Text 51"/>
          <p:cNvSpPr/>
          <p:nvPr/>
        </p:nvSpPr>
        <p:spPr>
          <a:xfrm>
            <a:off x="7403157" y="3072817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055" dirty="0"/>
          </a:p>
        </p:txBody>
      </p:sp>
      <p:sp>
        <p:nvSpPr>
          <p:cNvPr id="54" name="Text 52"/>
          <p:cNvSpPr/>
          <p:nvPr/>
        </p:nvSpPr>
        <p:spPr>
          <a:xfrm>
            <a:off x="7560320" y="3060316"/>
            <a:ext cx="933599" cy="142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03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自動中止（</a:t>
            </a:r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aborted</a:t>
            </a:r>
            <a:pPr algn="l" indent="0" marL="0">
              <a:lnSpc>
                <a:spcPts val="1120"/>
              </a:lnSpc>
              <a:buNone/>
            </a:pPr>
            <a:r>
              <a:rPr lang="en-US" sz="703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703" dirty="0"/>
          </a:p>
        </p:txBody>
      </p:sp>
      <p:sp>
        <p:nvSpPr>
          <p:cNvPr id="55" name="Shape 53"/>
          <p:cNvSpPr/>
          <p:nvPr/>
        </p:nvSpPr>
        <p:spPr>
          <a:xfrm>
            <a:off x="4793456" y="3811860"/>
            <a:ext cx="3700463" cy="0"/>
          </a:xfrm>
          <a:prstGeom prst="line">
            <a:avLst/>
          </a:prstGeom>
          <a:noFill/>
          <a:ln w="7144">
            <a:solidFill>
              <a:srgbClr val="2A344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93456" y="3517292"/>
            <a:ext cx="2684041" cy="142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03" dirty="0">
                <a:solidFill>
                  <a:srgbClr val="E8EDF4">
                    <a:alpha val="9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回放 </a:t>
            </a:r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E8EDF4">
                    <a:alpha val="9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</a:t>
            </a:r>
            <a:endParaRPr lang="en-US" sz="703" dirty="0"/>
          </a:p>
        </p:txBody>
      </p:sp>
      <p:sp>
        <p:nvSpPr>
          <p:cNvPr id="57" name="Text 55"/>
          <p:cNvSpPr/>
          <p:nvPr/>
        </p:nvSpPr>
        <p:spPr>
          <a:xfrm>
            <a:off x="7534647" y="3529794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055" dirty="0"/>
          </a:p>
        </p:txBody>
      </p:sp>
      <p:sp>
        <p:nvSpPr>
          <p:cNvPr id="58" name="Text 56"/>
          <p:cNvSpPr/>
          <p:nvPr/>
        </p:nvSpPr>
        <p:spPr>
          <a:xfrm>
            <a:off x="7686840" y="3517292"/>
            <a:ext cx="812048" cy="142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max|dq| = 0</a:t>
            </a:r>
            <a:pPr algn="l" indent="0" marL="0">
              <a:lnSpc>
                <a:spcPts val="1120"/>
              </a:lnSpc>
              <a:buNone/>
            </a:pPr>
            <a:r>
              <a:rPr lang="en-US" sz="703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即停</a:t>
            </a:r>
            <a:endParaRPr lang="en-US" sz="703" dirty="0"/>
          </a:p>
        </p:txBody>
      </p:sp>
      <p:sp>
        <p:nvSpPr>
          <p:cNvPr id="59" name="Shape 57"/>
          <p:cNvSpPr/>
          <p:nvPr/>
        </p:nvSpPr>
        <p:spPr>
          <a:xfrm>
            <a:off x="4793456" y="4268837"/>
            <a:ext cx="3700463" cy="0"/>
          </a:xfrm>
          <a:prstGeom prst="line">
            <a:avLst/>
          </a:prstGeom>
          <a:noFill/>
          <a:ln w="7144">
            <a:solidFill>
              <a:srgbClr val="2A344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93456" y="3977841"/>
            <a:ext cx="3114229" cy="135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03" dirty="0">
                <a:solidFill>
                  <a:srgbClr val="E8EDF4">
                    <a:alpha val="9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並發回放請求</a:t>
            </a:r>
            <a:endParaRPr lang="en-US" sz="703" dirty="0"/>
          </a:p>
        </p:txBody>
      </p:sp>
      <p:sp>
        <p:nvSpPr>
          <p:cNvPr id="61" name="Text 59"/>
          <p:cNvSpPr/>
          <p:nvPr/>
        </p:nvSpPr>
        <p:spPr>
          <a:xfrm>
            <a:off x="7964835" y="3986771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055" dirty="0"/>
          </a:p>
        </p:txBody>
      </p:sp>
      <p:sp>
        <p:nvSpPr>
          <p:cNvPr id="62" name="Text 60"/>
          <p:cNvSpPr/>
          <p:nvPr/>
        </p:nvSpPr>
        <p:spPr>
          <a:xfrm>
            <a:off x="8074215" y="3974269"/>
            <a:ext cx="467487" cy="142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409</a:t>
            </a:r>
            <a:pPr algn="l" indent="0" marL="0">
              <a:lnSpc>
                <a:spcPts val="1120"/>
              </a:lnSpc>
              <a:buNone/>
            </a:pPr>
            <a:r>
              <a:rPr lang="en-US" sz="703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拒絕</a:t>
            </a:r>
            <a:endParaRPr lang="en-US" sz="703" dirty="0"/>
          </a:p>
        </p:txBody>
      </p:sp>
      <p:sp>
        <p:nvSpPr>
          <p:cNvPr id="63" name="Text 61"/>
          <p:cNvSpPr/>
          <p:nvPr/>
        </p:nvSpPr>
        <p:spPr>
          <a:xfrm>
            <a:off x="4793456" y="4431246"/>
            <a:ext cx="2727573" cy="142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03" dirty="0">
                <a:solidFill>
                  <a:srgbClr val="E8EDF4">
                    <a:alpha val="92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3D</a:t>
            </a:r>
            <a:pPr algn="l" indent="0" marL="0">
              <a:lnSpc>
                <a:spcPts val="1120"/>
              </a:lnSpc>
              <a:buNone/>
            </a:pPr>
            <a:r>
              <a:rPr lang="en-US" sz="703" dirty="0">
                <a:solidFill>
                  <a:srgbClr val="E8EDF4">
                    <a:alpha val="9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視圖 </a:t>
            </a:r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E8EDF4">
                    <a:alpha val="9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</a:t>
            </a:r>
            <a:pPr algn="l" indent="0" marL="0">
              <a:lnSpc>
                <a:spcPts val="1120"/>
              </a:lnSpc>
              <a:buNone/>
            </a:pPr>
            <a:r>
              <a:rPr lang="en-US" sz="703" dirty="0">
                <a:solidFill>
                  <a:srgbClr val="E8EDF4">
                    <a:alpha val="9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讀數</a:t>
            </a:r>
            <a:endParaRPr lang="en-US" sz="703" dirty="0"/>
          </a:p>
        </p:txBody>
      </p:sp>
      <p:sp>
        <p:nvSpPr>
          <p:cNvPr id="64" name="Text 62"/>
          <p:cNvSpPr/>
          <p:nvPr/>
        </p:nvSpPr>
        <p:spPr>
          <a:xfrm>
            <a:off x="7578179" y="4443747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055" dirty="0"/>
          </a:p>
        </p:txBody>
      </p:sp>
      <p:sp>
        <p:nvSpPr>
          <p:cNvPr id="65" name="Text 63"/>
          <p:cNvSpPr/>
          <p:nvPr/>
        </p:nvSpPr>
        <p:spPr>
          <a:xfrm>
            <a:off x="7659082" y="4431246"/>
            <a:ext cx="911096" cy="142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03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與 </a:t>
            </a:r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ARM_HOME</a:t>
            </a:r>
            <a:pPr algn="l" indent="0" marL="0">
              <a:lnSpc>
                <a:spcPts val="1120"/>
              </a:lnSpc>
              <a:buNone/>
            </a:pPr>
            <a:r>
              <a:rPr lang="en-US" sz="703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一致</a:t>
            </a:r>
            <a:endParaRPr lang="en-US" sz="703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71475"/>
            <a:ext cx="8636000" cy="156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42" kern="0" dirty="0">
                <a:solidFill>
                  <a:srgbClr val="FF6B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· DEPLOYMENT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55427"/>
            <a:ext cx="8636000" cy="33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2138" b="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從沙盒到真機，三步落地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460772" y="1042541"/>
            <a:ext cx="3284674" cy="3520529"/>
          </a:xfrm>
          <a:prstGeom prst="roundRect">
            <a:avLst>
              <a:gd name="adj" fmla="val 3480"/>
            </a:avLst>
          </a:prstGeom>
          <a:solidFill>
            <a:srgbClr val="0D1117"/>
          </a:solidFill>
          <a:ln w="7144">
            <a:solidFill>
              <a:srgbClr val="2A3444"/>
            </a:solidFill>
            <a:prstDash val="solid"/>
          </a:ln>
          <a:effectLst>
            <a:outerShdw sx="100000" sy="100000" kx="0" ky="0" algn="bl" rotWithShape="0" blurRad="419100" dist="171450" dir="5400000">
              <a:srgbClr val="000000">
                <a:alpha val="5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/tmp/h2p-fit-1793162846564-kpz4g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344" y="1046113"/>
            <a:ext cx="3277530" cy="35133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712196"/>
            <a:ext cx="128588" cy="14288"/>
          </a:xfrm>
          <a:prstGeom prst="roundRect">
            <a:avLst>
              <a:gd name="adj" fmla="val 133329"/>
            </a:avLst>
          </a:prstGeom>
          <a:solidFill>
            <a:srgbClr val="FF6B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57200" y="4652367"/>
            <a:ext cx="4114772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生產線場景 — 平台直接對接</a:t>
            </a:r>
            <a:endParaRPr lang="en-US" sz="703" dirty="0"/>
          </a:p>
        </p:txBody>
      </p:sp>
      <p:sp>
        <p:nvSpPr>
          <p:cNvPr id="8" name="Text 5"/>
          <p:cNvSpPr/>
          <p:nvPr/>
        </p:nvSpPr>
        <p:spPr>
          <a:xfrm>
            <a:off x="3938327" y="1042541"/>
            <a:ext cx="4744901" cy="2282875"/>
          </a:xfrm>
          <a:prstGeom prst="roundRect">
            <a:avLst>
              <a:gd name="adj" fmla="val 5841"/>
            </a:avLst>
          </a:prstGeom>
          <a:solidFill>
            <a:srgbClr val="141A23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113349" y="1221135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FF6B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336" dirty="0"/>
          </a:p>
        </p:txBody>
      </p:sp>
      <p:sp>
        <p:nvSpPr>
          <p:cNvPr id="10" name="Text 7"/>
          <p:cNvSpPr/>
          <p:nvPr/>
        </p:nvSpPr>
        <p:spPr>
          <a:xfrm>
            <a:off x="4320518" y="1188988"/>
            <a:ext cx="1401474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E8EDF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r1a-deploy</a:t>
            </a:r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部署包</a:t>
            </a:r>
            <a:endParaRPr lang="en-US" sz="1013" dirty="0"/>
          </a:p>
        </p:txBody>
      </p:sp>
      <p:sp>
        <p:nvSpPr>
          <p:cNvPr id="11" name="Text 8"/>
          <p:cNvSpPr/>
          <p:nvPr/>
        </p:nvSpPr>
        <p:spPr>
          <a:xfrm>
            <a:off x="7792068" y="1185988"/>
            <a:ext cx="738999" cy="206026"/>
          </a:xfrm>
          <a:prstGeom prst="roundRect">
            <a:avLst>
              <a:gd name="adj" fmla="val 4618580"/>
            </a:avLst>
          </a:prstGeom>
          <a:solidFill>
            <a:srgbClr val="FF6B1A">
              <a:alpha val="12000"/>
            </a:srgbClr>
          </a:solidFill>
          <a:ln w="7144">
            <a:solidFill>
              <a:srgbClr val="FF6B1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7814928" y="1197025"/>
            <a:ext cx="693279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700" spc="47" kern="0" dirty="0">
                <a:solidFill>
                  <a:srgbClr val="FF6B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已隨交付提供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4113349" y="1881150"/>
            <a:ext cx="4394857" cy="0"/>
          </a:xfrm>
          <a:prstGeom prst="line">
            <a:avLst/>
          </a:prstGeom>
          <a:noFill/>
          <a:ln w="7144">
            <a:solidFill>
              <a:srgbClr val="2A344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6921" y="1529655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1B2330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148710" y="1561445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C9F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6" name="Text 13"/>
          <p:cNvSpPr/>
          <p:nvPr/>
        </p:nvSpPr>
        <p:spPr>
          <a:xfrm>
            <a:off x="4470536" y="1500188"/>
            <a:ext cx="3604669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C++ Hardware Bridge</a:t>
            </a:r>
            <a:endParaRPr lang="en-US" sz="844" dirty="0"/>
          </a:p>
        </p:txBody>
      </p:sp>
      <p:sp>
        <p:nvSpPr>
          <p:cNvPr id="17" name="Text 14"/>
          <p:cNvSpPr/>
          <p:nvPr/>
        </p:nvSpPr>
        <p:spPr>
          <a:xfrm>
            <a:off x="4470536" y="1675209"/>
            <a:ext cx="3433018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7A3B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269</a:t>
            </a:r>
            <a:pPr algn="l" indent="0" marL="0">
              <a:lnSpc>
                <a:spcPts val="120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行可編譯骨架 · 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7A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UDP JSON-RPC</a:t>
            </a:r>
            <a:pPr algn="l" indent="0" marL="0">
              <a:lnSpc>
                <a:spcPts val="120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協議層 · </a:t>
            </a:r>
            <a:pPr algn="l" indent="0" marL="0">
              <a:lnSpc>
                <a:spcPts val="120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SDK</a:t>
            </a:r>
            <a:pPr algn="l" indent="0" marL="0">
              <a:lnSpc>
                <a:spcPts val="120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對接點全部標註 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7A3B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TODO(r1a_sdk)</a:t>
            </a:r>
            <a:endParaRPr lang="en-US" sz="703" dirty="0"/>
          </a:p>
        </p:txBody>
      </p:sp>
      <p:sp>
        <p:nvSpPr>
          <p:cNvPr id="18" name="Shape 15"/>
          <p:cNvSpPr/>
          <p:nvPr/>
        </p:nvSpPr>
        <p:spPr>
          <a:xfrm>
            <a:off x="4113349" y="2333997"/>
            <a:ext cx="4394857" cy="0"/>
          </a:xfrm>
          <a:prstGeom prst="line">
            <a:avLst/>
          </a:prstGeom>
          <a:noFill/>
          <a:ln w="7144">
            <a:solidFill>
              <a:srgbClr val="2A344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16921" y="1982502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1B2330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148710" y="2014292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C9F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❄</a:t>
            </a:r>
            <a:endParaRPr lang="en-US" sz="1266" dirty="0"/>
          </a:p>
        </p:txBody>
      </p:sp>
      <p:sp>
        <p:nvSpPr>
          <p:cNvPr id="21" name="Text 18"/>
          <p:cNvSpPr/>
          <p:nvPr/>
        </p:nvSpPr>
        <p:spPr>
          <a:xfrm>
            <a:off x="4470536" y="1953034"/>
            <a:ext cx="1750531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E8EDF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systemd × 4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服務</a:t>
            </a:r>
            <a:endParaRPr lang="en-US" sz="844" dirty="0"/>
          </a:p>
        </p:txBody>
      </p:sp>
      <p:sp>
        <p:nvSpPr>
          <p:cNvPr id="22" name="Text 19"/>
          <p:cNvSpPr/>
          <p:nvPr/>
        </p:nvSpPr>
        <p:spPr>
          <a:xfrm>
            <a:off x="4470536" y="2128056"/>
            <a:ext cx="1667173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7A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bridge</a:t>
            </a:r>
            <a:pPr algn="l" indent="0" marL="0">
              <a:lnSpc>
                <a:spcPts val="120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即時調度優先級（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7A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real-time</a:t>
            </a:r>
            <a:pPr algn="l" indent="0" marL="0">
              <a:lnSpc>
                <a:spcPts val="120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703" dirty="0"/>
          </a:p>
        </p:txBody>
      </p:sp>
      <p:sp>
        <p:nvSpPr>
          <p:cNvPr id="23" name="Shape 20"/>
          <p:cNvSpPr/>
          <p:nvPr/>
        </p:nvSpPr>
        <p:spPr>
          <a:xfrm>
            <a:off x="4113349" y="2786844"/>
            <a:ext cx="4394857" cy="0"/>
          </a:xfrm>
          <a:prstGeom prst="line">
            <a:avLst/>
          </a:prstGeom>
          <a:noFill/>
          <a:ln w="7144">
            <a:solidFill>
              <a:srgbClr val="2A34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116921" y="2435349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1B2330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148710" y="2467139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C9F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6" name="Text 23"/>
          <p:cNvSpPr/>
          <p:nvPr/>
        </p:nvSpPr>
        <p:spPr>
          <a:xfrm>
            <a:off x="4470536" y="2405881"/>
            <a:ext cx="1307592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udev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規則</a:t>
            </a:r>
            <a:endParaRPr lang="en-US" sz="844" dirty="0"/>
          </a:p>
        </p:txBody>
      </p:sp>
      <p:sp>
        <p:nvSpPr>
          <p:cNvPr id="27" name="Text 24"/>
          <p:cNvSpPr/>
          <p:nvPr/>
        </p:nvSpPr>
        <p:spPr>
          <a:xfrm>
            <a:off x="4470536" y="2580903"/>
            <a:ext cx="1197264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固定裝置名，插拔不漂移</a:t>
            </a:r>
            <a:endParaRPr lang="en-US" sz="703" dirty="0"/>
          </a:p>
        </p:txBody>
      </p:sp>
      <p:sp>
        <p:nvSpPr>
          <p:cNvPr id="28" name="Text 25"/>
          <p:cNvSpPr/>
          <p:nvPr/>
        </p:nvSpPr>
        <p:spPr>
          <a:xfrm>
            <a:off x="4116921" y="2888196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1B2330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4148710" y="2919985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C9F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30" name="Text 27"/>
          <p:cNvSpPr/>
          <p:nvPr/>
        </p:nvSpPr>
        <p:spPr>
          <a:xfrm>
            <a:off x="4470536" y="2873015"/>
            <a:ext cx="743236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DEPLOY.md</a:t>
            </a:r>
            <a:endParaRPr lang="en-US" sz="844" dirty="0"/>
          </a:p>
        </p:txBody>
      </p:sp>
      <p:sp>
        <p:nvSpPr>
          <p:cNvPr id="31" name="Text 28"/>
          <p:cNvSpPr/>
          <p:nvPr/>
        </p:nvSpPr>
        <p:spPr>
          <a:xfrm>
            <a:off x="4470536" y="3033750"/>
            <a:ext cx="180983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Ubuntu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全流程部署 + 安全規範 + 故障排查</a:t>
            </a:r>
            <a:endParaRPr lang="en-US" sz="703" dirty="0"/>
          </a:p>
        </p:txBody>
      </p:sp>
      <p:sp>
        <p:nvSpPr>
          <p:cNvPr id="32" name="Text 29"/>
          <p:cNvSpPr/>
          <p:nvPr/>
        </p:nvSpPr>
        <p:spPr>
          <a:xfrm>
            <a:off x="3938327" y="3475434"/>
            <a:ext cx="1407096" cy="1307306"/>
          </a:xfrm>
          <a:prstGeom prst="roundRect">
            <a:avLst>
              <a:gd name="adj" fmla="val 10200"/>
            </a:avLst>
          </a:prstGeom>
          <a:solidFill>
            <a:srgbClr val="1B2330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4070486" y="3630588"/>
            <a:ext cx="289143" cy="291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26"/>
              </a:lnSpc>
              <a:buNone/>
            </a:pPr>
            <a:r>
              <a:rPr lang="en-US" sz="2363" dirty="0">
                <a:solidFill>
                  <a:srgbClr val="FF6B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2363" dirty="0"/>
          </a:p>
        </p:txBody>
      </p:sp>
      <p:sp>
        <p:nvSpPr>
          <p:cNvPr id="34" name="Text 31"/>
          <p:cNvSpPr/>
          <p:nvPr/>
        </p:nvSpPr>
        <p:spPr>
          <a:xfrm>
            <a:off x="4344070" y="3607594"/>
            <a:ext cx="515359" cy="1065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18" kern="0" dirty="0">
                <a:solidFill>
                  <a:srgbClr val="97A3B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1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4344070" y="3741539"/>
            <a:ext cx="570353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對接</a:t>
            </a:r>
            <a:endParaRPr lang="en-US" sz="956" dirty="0"/>
          </a:p>
        </p:txBody>
      </p:sp>
      <p:sp>
        <p:nvSpPr>
          <p:cNvPr id="36" name="Text 33"/>
          <p:cNvSpPr/>
          <p:nvPr/>
        </p:nvSpPr>
        <p:spPr>
          <a:xfrm>
            <a:off x="4070486" y="4009430"/>
            <a:ext cx="1211343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clone r1a-7a_sdk</a:t>
            </a:r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按 </a:t>
            </a:r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TODO</a:t>
            </a:r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標註接上 </a:t>
            </a:r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ArmMotorBus API</a:t>
            </a:r>
            <a:endParaRPr lang="en-US" sz="703" dirty="0"/>
          </a:p>
        </p:txBody>
      </p:sp>
      <p:sp>
        <p:nvSpPr>
          <p:cNvPr id="37" name="Text 34"/>
          <p:cNvSpPr/>
          <p:nvPr/>
        </p:nvSpPr>
        <p:spPr>
          <a:xfrm>
            <a:off x="5394537" y="3989784"/>
            <a:ext cx="163635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63" dirty="0">
                <a:solidFill>
                  <a:srgbClr val="FF6B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463" dirty="0"/>
          </a:p>
        </p:txBody>
      </p:sp>
      <p:sp>
        <p:nvSpPr>
          <p:cNvPr id="38" name="Text 35"/>
          <p:cNvSpPr/>
          <p:nvPr/>
        </p:nvSpPr>
        <p:spPr>
          <a:xfrm>
            <a:off x="5607286" y="3475434"/>
            <a:ext cx="1407096" cy="1307306"/>
          </a:xfrm>
          <a:prstGeom prst="roundRect">
            <a:avLst>
              <a:gd name="adj" fmla="val 10200"/>
            </a:avLst>
          </a:prstGeom>
          <a:solidFill>
            <a:srgbClr val="1B2330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5739445" y="3630588"/>
            <a:ext cx="289143" cy="291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26"/>
              </a:lnSpc>
              <a:buNone/>
            </a:pPr>
            <a:r>
              <a:rPr lang="en-US" sz="2363" dirty="0">
                <a:solidFill>
                  <a:srgbClr val="FF6B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2363" dirty="0"/>
          </a:p>
        </p:txBody>
      </p:sp>
      <p:sp>
        <p:nvSpPr>
          <p:cNvPr id="40" name="Text 37"/>
          <p:cNvSpPr/>
          <p:nvPr/>
        </p:nvSpPr>
        <p:spPr>
          <a:xfrm>
            <a:off x="6013028" y="3607594"/>
            <a:ext cx="693520" cy="1065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18" kern="0" dirty="0">
                <a:solidFill>
                  <a:srgbClr val="97A3B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2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6013028" y="3741539"/>
            <a:ext cx="767525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編譯上線</a:t>
            </a:r>
            <a:endParaRPr lang="en-US" sz="956" dirty="0"/>
          </a:p>
        </p:txBody>
      </p:sp>
      <p:sp>
        <p:nvSpPr>
          <p:cNvPr id="42" name="Text 39"/>
          <p:cNvSpPr/>
          <p:nvPr/>
        </p:nvSpPr>
        <p:spPr>
          <a:xfrm>
            <a:off x="5739445" y="4009430"/>
            <a:ext cx="1142777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編譯 </a:t>
            </a:r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bridge</a:t>
            </a:r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systemd + udev</a:t>
            </a:r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安裝</a:t>
            </a:r>
            <a:endParaRPr lang="en-US" sz="703" dirty="0"/>
          </a:p>
        </p:txBody>
      </p:sp>
      <p:sp>
        <p:nvSpPr>
          <p:cNvPr id="43" name="Text 40"/>
          <p:cNvSpPr/>
          <p:nvPr/>
        </p:nvSpPr>
        <p:spPr>
          <a:xfrm>
            <a:off x="7063495" y="3989784"/>
            <a:ext cx="163635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63" dirty="0">
                <a:solidFill>
                  <a:srgbClr val="FF6B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463" dirty="0"/>
          </a:p>
        </p:txBody>
      </p:sp>
      <p:sp>
        <p:nvSpPr>
          <p:cNvPr id="44" name="Text 41"/>
          <p:cNvSpPr/>
          <p:nvPr/>
        </p:nvSpPr>
        <p:spPr>
          <a:xfrm>
            <a:off x="7276244" y="3475434"/>
            <a:ext cx="1407096" cy="1307306"/>
          </a:xfrm>
          <a:prstGeom prst="roundRect">
            <a:avLst>
              <a:gd name="adj" fmla="val 10200"/>
            </a:avLst>
          </a:prstGeom>
          <a:solidFill>
            <a:srgbClr val="1B2330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2"/>
          <p:cNvSpPr/>
          <p:nvPr/>
        </p:nvSpPr>
        <p:spPr>
          <a:xfrm>
            <a:off x="7408404" y="3630588"/>
            <a:ext cx="289143" cy="291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26"/>
              </a:lnSpc>
              <a:buNone/>
            </a:pPr>
            <a:r>
              <a:rPr lang="en-US" sz="2363" dirty="0">
                <a:solidFill>
                  <a:srgbClr val="FF6B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2363" dirty="0"/>
          </a:p>
        </p:txBody>
      </p:sp>
      <p:sp>
        <p:nvSpPr>
          <p:cNvPr id="46" name="Text 43"/>
          <p:cNvSpPr/>
          <p:nvPr/>
        </p:nvSpPr>
        <p:spPr>
          <a:xfrm>
            <a:off x="7681987" y="3607594"/>
            <a:ext cx="515359" cy="1065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18" kern="0" dirty="0">
                <a:solidFill>
                  <a:srgbClr val="97A3B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3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7681987" y="3741539"/>
            <a:ext cx="570353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切換</a:t>
            </a:r>
            <a:endParaRPr lang="en-US" sz="956" dirty="0"/>
          </a:p>
        </p:txBody>
      </p:sp>
      <p:sp>
        <p:nvSpPr>
          <p:cNvPr id="48" name="Text 45"/>
          <p:cNvSpPr/>
          <p:nvPr/>
        </p:nvSpPr>
        <p:spPr>
          <a:xfrm>
            <a:off x="7408404" y="4009430"/>
            <a:ext cx="1211343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 Settings</a:t>
            </a:r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切到 </a:t>
            </a:r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bridge</a:t>
            </a:r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模式 — 業務代碼零改動</a:t>
            </a:r>
            <a:endParaRPr lang="en-US" sz="703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71475"/>
            <a:ext cx="8636000" cy="156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42" kern="0" dirty="0">
                <a:solidFill>
                  <a:srgbClr val="FF6B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· TECH STACK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55427"/>
            <a:ext cx="8636000" cy="33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2138" b="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現代全棧，工程品味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457200" y="924669"/>
            <a:ext cx="8636000" cy="19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每個選型都為了可維護與可移植</a:t>
            </a:r>
            <a:endParaRPr lang="en-US" sz="1013" dirty="0"/>
          </a:p>
        </p:txBody>
      </p:sp>
      <p:sp>
        <p:nvSpPr>
          <p:cNvPr id="5" name="Text 3"/>
          <p:cNvSpPr/>
          <p:nvPr/>
        </p:nvSpPr>
        <p:spPr>
          <a:xfrm>
            <a:off x="460772" y="1165324"/>
            <a:ext cx="1953816" cy="3228082"/>
          </a:xfrm>
          <a:prstGeom prst="roundRect">
            <a:avLst>
              <a:gd name="adj" fmla="val 6825"/>
            </a:avLst>
          </a:prstGeom>
          <a:solidFill>
            <a:srgbClr val="141A23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25078" y="1343918"/>
            <a:ext cx="307181" cy="307181"/>
          </a:xfrm>
          <a:prstGeom prst="roundRect">
            <a:avLst>
              <a:gd name="adj" fmla="val 34109"/>
            </a:avLst>
          </a:prstGeom>
          <a:solidFill>
            <a:srgbClr val="4CC9F0">
              <a:alpha val="10000"/>
            </a:srgbClr>
          </a:solidFill>
          <a:ln w="7144">
            <a:solidFill>
              <a:srgbClr val="4CC9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4726" y="1383566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4CC9F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8" name="Text 6"/>
          <p:cNvSpPr/>
          <p:nvPr/>
        </p:nvSpPr>
        <p:spPr>
          <a:xfrm>
            <a:off x="621506" y="1768971"/>
            <a:ext cx="1632347" cy="24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b="1" spc="12" kern="0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Frontend</a:t>
            </a:r>
            <a:endParaRPr lang="en-US" sz="1181" dirty="0"/>
          </a:p>
        </p:txBody>
      </p:sp>
      <p:sp>
        <p:nvSpPr>
          <p:cNvPr id="9" name="Text 7"/>
          <p:cNvSpPr/>
          <p:nvPr/>
        </p:nvSpPr>
        <p:spPr>
          <a:xfrm>
            <a:off x="621506" y="2094012"/>
            <a:ext cx="1632347" cy="7144"/>
          </a:xfrm>
          <a:prstGeom prst="rect">
            <a:avLst/>
          </a:prstGeom>
          <a:solidFill>
            <a:srgbClr val="2A3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1506" y="2364246"/>
            <a:ext cx="102870" cy="175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b="1" dirty="0">
                <a:solidFill>
                  <a:srgbClr val="FF6B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‣</a:t>
            </a:r>
            <a:endParaRPr lang="en-US" sz="844" dirty="0"/>
          </a:p>
        </p:txBody>
      </p:sp>
      <p:sp>
        <p:nvSpPr>
          <p:cNvPr id="11" name="Text 9"/>
          <p:cNvSpPr/>
          <p:nvPr/>
        </p:nvSpPr>
        <p:spPr>
          <a:xfrm>
            <a:off x="750094" y="2364246"/>
            <a:ext cx="1503759" cy="175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Next.js </a:t>
            </a:r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8EDF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</a:t>
            </a:r>
            <a:endParaRPr lang="en-US" sz="844" dirty="0"/>
          </a:p>
        </p:txBody>
      </p:sp>
      <p:sp>
        <p:nvSpPr>
          <p:cNvPr id="12" name="Text 10"/>
          <p:cNvSpPr/>
          <p:nvPr/>
        </p:nvSpPr>
        <p:spPr>
          <a:xfrm>
            <a:off x="621506" y="2675558"/>
            <a:ext cx="102870" cy="175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b="1" dirty="0">
                <a:solidFill>
                  <a:srgbClr val="FF6B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‣</a:t>
            </a:r>
            <a:endParaRPr lang="en-US" sz="844" dirty="0"/>
          </a:p>
        </p:txBody>
      </p:sp>
      <p:sp>
        <p:nvSpPr>
          <p:cNvPr id="13" name="Text 11"/>
          <p:cNvSpPr/>
          <p:nvPr/>
        </p:nvSpPr>
        <p:spPr>
          <a:xfrm>
            <a:off x="750094" y="2675558"/>
            <a:ext cx="1503759" cy="175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React </a:t>
            </a:r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8EDF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</a:t>
            </a:r>
            <a:endParaRPr lang="en-US" sz="844" dirty="0"/>
          </a:p>
        </p:txBody>
      </p:sp>
      <p:sp>
        <p:nvSpPr>
          <p:cNvPr id="14" name="Text 12"/>
          <p:cNvSpPr/>
          <p:nvPr/>
        </p:nvSpPr>
        <p:spPr>
          <a:xfrm>
            <a:off x="621506" y="2986869"/>
            <a:ext cx="102870" cy="16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b="1" dirty="0">
                <a:solidFill>
                  <a:srgbClr val="FF6B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‣</a:t>
            </a:r>
            <a:endParaRPr lang="en-US" sz="844" dirty="0"/>
          </a:p>
        </p:txBody>
      </p:sp>
      <p:sp>
        <p:nvSpPr>
          <p:cNvPr id="15" name="Text 13"/>
          <p:cNvSpPr/>
          <p:nvPr/>
        </p:nvSpPr>
        <p:spPr>
          <a:xfrm>
            <a:off x="750094" y="2986869"/>
            <a:ext cx="1503759" cy="16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TypeScript</a:t>
            </a:r>
            <a:endParaRPr lang="en-US" sz="844" dirty="0"/>
          </a:p>
        </p:txBody>
      </p:sp>
      <p:sp>
        <p:nvSpPr>
          <p:cNvPr id="16" name="Text 14"/>
          <p:cNvSpPr/>
          <p:nvPr/>
        </p:nvSpPr>
        <p:spPr>
          <a:xfrm>
            <a:off x="621506" y="3291036"/>
            <a:ext cx="102870" cy="175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b="1" dirty="0">
                <a:solidFill>
                  <a:srgbClr val="FF6B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‣</a:t>
            </a:r>
            <a:endParaRPr lang="en-US" sz="844" dirty="0"/>
          </a:p>
        </p:txBody>
      </p:sp>
      <p:sp>
        <p:nvSpPr>
          <p:cNvPr id="17" name="Text 15"/>
          <p:cNvSpPr/>
          <p:nvPr/>
        </p:nvSpPr>
        <p:spPr>
          <a:xfrm>
            <a:off x="750094" y="3291036"/>
            <a:ext cx="1503759" cy="175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Tailwind CSS </a:t>
            </a:r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8EDF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44" dirty="0"/>
          </a:p>
        </p:txBody>
      </p:sp>
      <p:sp>
        <p:nvSpPr>
          <p:cNvPr id="18" name="Text 16"/>
          <p:cNvSpPr/>
          <p:nvPr/>
        </p:nvSpPr>
        <p:spPr>
          <a:xfrm>
            <a:off x="621506" y="3602348"/>
            <a:ext cx="102870" cy="175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b="1" dirty="0">
                <a:solidFill>
                  <a:srgbClr val="FF6B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‣</a:t>
            </a:r>
            <a:endParaRPr lang="en-US" sz="844" dirty="0"/>
          </a:p>
        </p:txBody>
      </p:sp>
      <p:sp>
        <p:nvSpPr>
          <p:cNvPr id="19" name="Text 17"/>
          <p:cNvSpPr/>
          <p:nvPr/>
        </p:nvSpPr>
        <p:spPr>
          <a:xfrm>
            <a:off x="750094" y="3602348"/>
            <a:ext cx="1503759" cy="175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three.js </a:t>
            </a:r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8EDF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0.171</a:t>
            </a:r>
            <a:endParaRPr lang="en-US" sz="844" dirty="0"/>
          </a:p>
        </p:txBody>
      </p:sp>
      <p:sp>
        <p:nvSpPr>
          <p:cNvPr id="20" name="Text 18"/>
          <p:cNvSpPr/>
          <p:nvPr/>
        </p:nvSpPr>
        <p:spPr>
          <a:xfrm>
            <a:off x="621506" y="3913659"/>
            <a:ext cx="102870" cy="16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b="1" dirty="0">
                <a:solidFill>
                  <a:srgbClr val="FF6B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‣</a:t>
            </a:r>
            <a:endParaRPr lang="en-US" sz="844" dirty="0"/>
          </a:p>
        </p:txBody>
      </p:sp>
      <p:sp>
        <p:nvSpPr>
          <p:cNvPr id="21" name="Text 19"/>
          <p:cNvSpPr/>
          <p:nvPr/>
        </p:nvSpPr>
        <p:spPr>
          <a:xfrm>
            <a:off x="750094" y="3913659"/>
            <a:ext cx="1503759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recharts</a:t>
            </a:r>
            <a:endParaRPr lang="en-US" sz="844" dirty="0"/>
          </a:p>
        </p:txBody>
      </p:sp>
      <p:sp>
        <p:nvSpPr>
          <p:cNvPr id="22" name="Text 20"/>
          <p:cNvSpPr/>
          <p:nvPr/>
        </p:nvSpPr>
        <p:spPr>
          <a:xfrm>
            <a:off x="2550319" y="1165324"/>
            <a:ext cx="1953816" cy="3228082"/>
          </a:xfrm>
          <a:prstGeom prst="roundRect">
            <a:avLst>
              <a:gd name="adj" fmla="val 6825"/>
            </a:avLst>
          </a:prstGeom>
          <a:solidFill>
            <a:srgbClr val="141A23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714625" y="1343918"/>
            <a:ext cx="307181" cy="307181"/>
          </a:xfrm>
          <a:prstGeom prst="roundRect">
            <a:avLst>
              <a:gd name="adj" fmla="val 34109"/>
            </a:avLst>
          </a:prstGeom>
          <a:solidFill>
            <a:srgbClr val="4CC9F0">
              <a:alpha val="10000"/>
            </a:srgbClr>
          </a:solidFill>
          <a:ln w="7144">
            <a:solidFill>
              <a:srgbClr val="4CC9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754273" y="1383566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4CC9F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547" dirty="0"/>
          </a:p>
        </p:txBody>
      </p:sp>
      <p:sp>
        <p:nvSpPr>
          <p:cNvPr id="25" name="Text 23"/>
          <p:cNvSpPr/>
          <p:nvPr/>
        </p:nvSpPr>
        <p:spPr>
          <a:xfrm>
            <a:off x="2711053" y="1768971"/>
            <a:ext cx="1632347" cy="24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b="1" spc="12" kern="0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Backend</a:t>
            </a:r>
            <a:endParaRPr lang="en-US" sz="1181" dirty="0"/>
          </a:p>
        </p:txBody>
      </p:sp>
      <p:sp>
        <p:nvSpPr>
          <p:cNvPr id="26" name="Text 24"/>
          <p:cNvSpPr/>
          <p:nvPr/>
        </p:nvSpPr>
        <p:spPr>
          <a:xfrm>
            <a:off x="2711053" y="2094012"/>
            <a:ext cx="1632347" cy="7144"/>
          </a:xfrm>
          <a:prstGeom prst="rect">
            <a:avLst/>
          </a:prstGeom>
          <a:solidFill>
            <a:srgbClr val="2A3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711053" y="2417378"/>
            <a:ext cx="102870" cy="16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b="1" dirty="0">
                <a:solidFill>
                  <a:srgbClr val="FF6B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‣</a:t>
            </a:r>
            <a:endParaRPr lang="en-US" sz="844" dirty="0"/>
          </a:p>
        </p:txBody>
      </p:sp>
      <p:sp>
        <p:nvSpPr>
          <p:cNvPr id="28" name="Text 26"/>
          <p:cNvSpPr/>
          <p:nvPr/>
        </p:nvSpPr>
        <p:spPr>
          <a:xfrm>
            <a:off x="2839641" y="2417378"/>
            <a:ext cx="1503759" cy="16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Node</a:t>
            </a:r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</a:t>
            </a:r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js</a:t>
            </a:r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微服務</a:t>
            </a:r>
            <a:endParaRPr lang="en-US" sz="844" dirty="0"/>
          </a:p>
        </p:txBody>
      </p:sp>
      <p:sp>
        <p:nvSpPr>
          <p:cNvPr id="29" name="Text 27"/>
          <p:cNvSpPr/>
          <p:nvPr/>
        </p:nvSpPr>
        <p:spPr>
          <a:xfrm>
            <a:off x="2711053" y="2774677"/>
            <a:ext cx="102870" cy="16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b="1" dirty="0">
                <a:solidFill>
                  <a:srgbClr val="FF6B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‣</a:t>
            </a:r>
            <a:endParaRPr lang="en-US" sz="844" dirty="0"/>
          </a:p>
        </p:txBody>
      </p:sp>
      <p:sp>
        <p:nvSpPr>
          <p:cNvPr id="30" name="Text 28"/>
          <p:cNvSpPr/>
          <p:nvPr/>
        </p:nvSpPr>
        <p:spPr>
          <a:xfrm>
            <a:off x="2839641" y="2774677"/>
            <a:ext cx="1503759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socket.io</a:t>
            </a:r>
            <a:endParaRPr lang="en-US" sz="844" dirty="0"/>
          </a:p>
        </p:txBody>
      </p:sp>
      <p:sp>
        <p:nvSpPr>
          <p:cNvPr id="31" name="Text 29"/>
          <p:cNvSpPr/>
          <p:nvPr/>
        </p:nvSpPr>
        <p:spPr>
          <a:xfrm>
            <a:off x="2711053" y="3131976"/>
            <a:ext cx="102870" cy="16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b="1" dirty="0">
                <a:solidFill>
                  <a:srgbClr val="FF6B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‣</a:t>
            </a:r>
            <a:endParaRPr lang="en-US" sz="844" dirty="0"/>
          </a:p>
        </p:txBody>
      </p:sp>
      <p:sp>
        <p:nvSpPr>
          <p:cNvPr id="32" name="Text 30"/>
          <p:cNvSpPr/>
          <p:nvPr/>
        </p:nvSpPr>
        <p:spPr>
          <a:xfrm>
            <a:off x="2839641" y="3131976"/>
            <a:ext cx="1503759" cy="16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Express</a:t>
            </a:r>
            <a:endParaRPr lang="en-US" sz="844" dirty="0"/>
          </a:p>
        </p:txBody>
      </p:sp>
      <p:sp>
        <p:nvSpPr>
          <p:cNvPr id="33" name="Text 31"/>
          <p:cNvSpPr/>
          <p:nvPr/>
        </p:nvSpPr>
        <p:spPr>
          <a:xfrm>
            <a:off x="2711053" y="3489275"/>
            <a:ext cx="102870" cy="175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b="1" dirty="0">
                <a:solidFill>
                  <a:srgbClr val="FF6B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‣</a:t>
            </a:r>
            <a:endParaRPr lang="en-US" sz="844" dirty="0"/>
          </a:p>
        </p:txBody>
      </p:sp>
      <p:sp>
        <p:nvSpPr>
          <p:cNvPr id="34" name="Text 32"/>
          <p:cNvSpPr/>
          <p:nvPr/>
        </p:nvSpPr>
        <p:spPr>
          <a:xfrm>
            <a:off x="2839641" y="3489275"/>
            <a:ext cx="1503759" cy="175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Prisma </a:t>
            </a:r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8EDF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+ SQLite</a:t>
            </a:r>
            <a:endParaRPr lang="en-US" sz="844" dirty="0"/>
          </a:p>
        </p:txBody>
      </p:sp>
      <p:sp>
        <p:nvSpPr>
          <p:cNvPr id="35" name="Text 33"/>
          <p:cNvSpPr/>
          <p:nvPr/>
        </p:nvSpPr>
        <p:spPr>
          <a:xfrm>
            <a:off x="2711053" y="3853718"/>
            <a:ext cx="102870" cy="175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b="1" dirty="0">
                <a:solidFill>
                  <a:srgbClr val="FF6B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‣</a:t>
            </a:r>
            <a:endParaRPr lang="en-US" sz="844" dirty="0"/>
          </a:p>
        </p:txBody>
      </p:sp>
      <p:sp>
        <p:nvSpPr>
          <p:cNvPr id="36" name="Text 34"/>
          <p:cNvSpPr/>
          <p:nvPr/>
        </p:nvSpPr>
        <p:spPr>
          <a:xfrm>
            <a:off x="2839641" y="3853718"/>
            <a:ext cx="1503759" cy="175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zod </a:t>
            </a:r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8EDF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驗證</a:t>
            </a:r>
            <a:endParaRPr lang="en-US" sz="844" dirty="0"/>
          </a:p>
        </p:txBody>
      </p:sp>
      <p:sp>
        <p:nvSpPr>
          <p:cNvPr id="37" name="Text 35"/>
          <p:cNvSpPr/>
          <p:nvPr/>
        </p:nvSpPr>
        <p:spPr>
          <a:xfrm>
            <a:off x="4639866" y="1165324"/>
            <a:ext cx="1953816" cy="3228082"/>
          </a:xfrm>
          <a:prstGeom prst="roundRect">
            <a:avLst>
              <a:gd name="adj" fmla="val 6825"/>
            </a:avLst>
          </a:prstGeom>
          <a:solidFill>
            <a:srgbClr val="141A23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804172" y="1343918"/>
            <a:ext cx="307181" cy="307181"/>
          </a:xfrm>
          <a:prstGeom prst="roundRect">
            <a:avLst>
              <a:gd name="adj" fmla="val 34109"/>
            </a:avLst>
          </a:prstGeom>
          <a:solidFill>
            <a:srgbClr val="4CC9F0">
              <a:alpha val="10000"/>
            </a:srgbClr>
          </a:solidFill>
          <a:ln w="7144">
            <a:solidFill>
              <a:srgbClr val="4CC9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843820" y="1383566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4CC9F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547" dirty="0"/>
          </a:p>
        </p:txBody>
      </p:sp>
      <p:sp>
        <p:nvSpPr>
          <p:cNvPr id="40" name="Text 38"/>
          <p:cNvSpPr/>
          <p:nvPr/>
        </p:nvSpPr>
        <p:spPr>
          <a:xfrm>
            <a:off x="4800600" y="1768971"/>
            <a:ext cx="1632347" cy="24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b="1" spc="12" kern="0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Hardware</a:t>
            </a:r>
            <a:endParaRPr lang="en-US" sz="1181" dirty="0"/>
          </a:p>
        </p:txBody>
      </p:sp>
      <p:sp>
        <p:nvSpPr>
          <p:cNvPr id="41" name="Text 39"/>
          <p:cNvSpPr/>
          <p:nvPr/>
        </p:nvSpPr>
        <p:spPr>
          <a:xfrm>
            <a:off x="4800600" y="2094012"/>
            <a:ext cx="1632347" cy="7144"/>
          </a:xfrm>
          <a:prstGeom prst="rect">
            <a:avLst/>
          </a:prstGeom>
          <a:solidFill>
            <a:srgbClr val="2A3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800600" y="2417378"/>
            <a:ext cx="102870" cy="16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b="1" dirty="0">
                <a:solidFill>
                  <a:srgbClr val="FF6B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‣</a:t>
            </a:r>
            <a:endParaRPr lang="en-US" sz="844" dirty="0"/>
          </a:p>
        </p:txBody>
      </p:sp>
      <p:sp>
        <p:nvSpPr>
          <p:cNvPr id="43" name="Text 41"/>
          <p:cNvSpPr/>
          <p:nvPr/>
        </p:nvSpPr>
        <p:spPr>
          <a:xfrm>
            <a:off x="4929188" y="2417378"/>
            <a:ext cx="1503759" cy="16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C++</a:t>
            </a:r>
            <a:endParaRPr lang="en-US" sz="844" dirty="0"/>
          </a:p>
        </p:txBody>
      </p:sp>
      <p:sp>
        <p:nvSpPr>
          <p:cNvPr id="44" name="Text 42"/>
          <p:cNvSpPr/>
          <p:nvPr/>
        </p:nvSpPr>
        <p:spPr>
          <a:xfrm>
            <a:off x="4800600" y="2774677"/>
            <a:ext cx="102870" cy="16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b="1" dirty="0">
                <a:solidFill>
                  <a:srgbClr val="FF6B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‣</a:t>
            </a:r>
            <a:endParaRPr lang="en-US" sz="844" dirty="0"/>
          </a:p>
        </p:txBody>
      </p:sp>
      <p:sp>
        <p:nvSpPr>
          <p:cNvPr id="45" name="Text 43"/>
          <p:cNvSpPr/>
          <p:nvPr/>
        </p:nvSpPr>
        <p:spPr>
          <a:xfrm>
            <a:off x="4929188" y="2774677"/>
            <a:ext cx="1503759" cy="16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CMake</a:t>
            </a:r>
            <a:endParaRPr lang="en-US" sz="844" dirty="0"/>
          </a:p>
        </p:txBody>
      </p:sp>
      <p:sp>
        <p:nvSpPr>
          <p:cNvPr id="46" name="Text 44"/>
          <p:cNvSpPr/>
          <p:nvPr/>
        </p:nvSpPr>
        <p:spPr>
          <a:xfrm>
            <a:off x="4800600" y="3131976"/>
            <a:ext cx="102870" cy="16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b="1" dirty="0">
                <a:solidFill>
                  <a:srgbClr val="FF6B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‣</a:t>
            </a:r>
            <a:endParaRPr lang="en-US" sz="844" dirty="0"/>
          </a:p>
        </p:txBody>
      </p:sp>
      <p:sp>
        <p:nvSpPr>
          <p:cNvPr id="47" name="Text 45"/>
          <p:cNvSpPr/>
          <p:nvPr/>
        </p:nvSpPr>
        <p:spPr>
          <a:xfrm>
            <a:off x="4929188" y="3131976"/>
            <a:ext cx="1503759" cy="16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UDP JSON-RPC</a:t>
            </a:r>
            <a:endParaRPr lang="en-US" sz="844" dirty="0"/>
          </a:p>
        </p:txBody>
      </p:sp>
      <p:sp>
        <p:nvSpPr>
          <p:cNvPr id="48" name="Text 46"/>
          <p:cNvSpPr/>
          <p:nvPr/>
        </p:nvSpPr>
        <p:spPr>
          <a:xfrm>
            <a:off x="4800600" y="3489275"/>
            <a:ext cx="102870" cy="175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b="1" dirty="0">
                <a:solidFill>
                  <a:srgbClr val="FF6B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‣</a:t>
            </a:r>
            <a:endParaRPr lang="en-US" sz="844" dirty="0"/>
          </a:p>
        </p:txBody>
      </p:sp>
      <p:sp>
        <p:nvSpPr>
          <p:cNvPr id="49" name="Text 47"/>
          <p:cNvSpPr/>
          <p:nvPr/>
        </p:nvSpPr>
        <p:spPr>
          <a:xfrm>
            <a:off x="4929188" y="3489275"/>
            <a:ext cx="1503759" cy="175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8EDF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IM6014</a:t>
            </a:r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串列匯流排</a:t>
            </a:r>
            <a:endParaRPr lang="en-US" sz="844" dirty="0"/>
          </a:p>
        </p:txBody>
      </p:sp>
      <p:sp>
        <p:nvSpPr>
          <p:cNvPr id="50" name="Text 48"/>
          <p:cNvSpPr/>
          <p:nvPr/>
        </p:nvSpPr>
        <p:spPr>
          <a:xfrm>
            <a:off x="4800600" y="3853718"/>
            <a:ext cx="102870" cy="175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b="1" dirty="0">
                <a:solidFill>
                  <a:srgbClr val="FF6B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‣</a:t>
            </a:r>
            <a:endParaRPr lang="en-US" sz="844" dirty="0"/>
          </a:p>
        </p:txBody>
      </p:sp>
      <p:sp>
        <p:nvSpPr>
          <p:cNvPr id="51" name="Text 49"/>
          <p:cNvSpPr/>
          <p:nvPr/>
        </p:nvSpPr>
        <p:spPr>
          <a:xfrm>
            <a:off x="4929188" y="3853718"/>
            <a:ext cx="1503759" cy="175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8EDF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 Mbaud</a:t>
            </a:r>
            <a:endParaRPr lang="en-US" sz="844" dirty="0"/>
          </a:p>
        </p:txBody>
      </p:sp>
      <p:sp>
        <p:nvSpPr>
          <p:cNvPr id="52" name="Text 50"/>
          <p:cNvSpPr/>
          <p:nvPr/>
        </p:nvSpPr>
        <p:spPr>
          <a:xfrm>
            <a:off x="6729413" y="1165324"/>
            <a:ext cx="1953816" cy="3228082"/>
          </a:xfrm>
          <a:prstGeom prst="roundRect">
            <a:avLst>
              <a:gd name="adj" fmla="val 6825"/>
            </a:avLst>
          </a:prstGeom>
          <a:solidFill>
            <a:srgbClr val="141A23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893719" y="1343918"/>
            <a:ext cx="307181" cy="307181"/>
          </a:xfrm>
          <a:prstGeom prst="roundRect">
            <a:avLst>
              <a:gd name="adj" fmla="val 34109"/>
            </a:avLst>
          </a:prstGeom>
          <a:solidFill>
            <a:srgbClr val="4CC9F0">
              <a:alpha val="10000"/>
            </a:srgbClr>
          </a:solidFill>
          <a:ln w="7144">
            <a:solidFill>
              <a:srgbClr val="4CC9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6933367" y="1383566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4CC9F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547" dirty="0"/>
          </a:p>
        </p:txBody>
      </p:sp>
      <p:sp>
        <p:nvSpPr>
          <p:cNvPr id="55" name="Text 53"/>
          <p:cNvSpPr/>
          <p:nvPr/>
        </p:nvSpPr>
        <p:spPr>
          <a:xfrm>
            <a:off x="6890147" y="1768971"/>
            <a:ext cx="1632347" cy="24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b="1" spc="12" kern="0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</a:t>
            </a:r>
            <a:endParaRPr lang="en-US" sz="1181" dirty="0"/>
          </a:p>
        </p:txBody>
      </p:sp>
      <p:sp>
        <p:nvSpPr>
          <p:cNvPr id="56" name="Text 54"/>
          <p:cNvSpPr/>
          <p:nvPr/>
        </p:nvSpPr>
        <p:spPr>
          <a:xfrm>
            <a:off x="6890147" y="2094012"/>
            <a:ext cx="1632347" cy="7144"/>
          </a:xfrm>
          <a:prstGeom prst="rect">
            <a:avLst/>
          </a:prstGeom>
          <a:solidFill>
            <a:srgbClr val="2A3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6890147" y="2490267"/>
            <a:ext cx="102870" cy="175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b="1" dirty="0">
                <a:solidFill>
                  <a:srgbClr val="FF6B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‣</a:t>
            </a:r>
            <a:endParaRPr lang="en-US" sz="844" dirty="0"/>
          </a:p>
        </p:txBody>
      </p:sp>
      <p:sp>
        <p:nvSpPr>
          <p:cNvPr id="58" name="Text 56"/>
          <p:cNvSpPr/>
          <p:nvPr/>
        </p:nvSpPr>
        <p:spPr>
          <a:xfrm>
            <a:off x="7018734" y="2490267"/>
            <a:ext cx="1503759" cy="175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ESLint </a:t>
            </a:r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8EDF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錯誤</a:t>
            </a:r>
            <a:endParaRPr lang="en-US" sz="844" dirty="0"/>
          </a:p>
        </p:txBody>
      </p:sp>
      <p:sp>
        <p:nvSpPr>
          <p:cNvPr id="59" name="Text 57"/>
          <p:cNvSpPr/>
          <p:nvPr/>
        </p:nvSpPr>
        <p:spPr>
          <a:xfrm>
            <a:off x="6890147" y="2927598"/>
            <a:ext cx="102870" cy="16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b="1" dirty="0">
                <a:solidFill>
                  <a:srgbClr val="FF6B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‣</a:t>
            </a:r>
            <a:endParaRPr lang="en-US" sz="844" dirty="0"/>
          </a:p>
        </p:txBody>
      </p:sp>
      <p:sp>
        <p:nvSpPr>
          <p:cNvPr id="60" name="Text 58"/>
          <p:cNvSpPr/>
          <p:nvPr/>
        </p:nvSpPr>
        <p:spPr>
          <a:xfrm>
            <a:off x="7018734" y="2927598"/>
            <a:ext cx="1503759" cy="16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8EDF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agent-browser E2E</a:t>
            </a:r>
            <a:endParaRPr lang="en-US" sz="844" dirty="0"/>
          </a:p>
        </p:txBody>
      </p:sp>
      <p:sp>
        <p:nvSpPr>
          <p:cNvPr id="61" name="Text 59"/>
          <p:cNvSpPr/>
          <p:nvPr/>
        </p:nvSpPr>
        <p:spPr>
          <a:xfrm>
            <a:off x="6890147" y="3357786"/>
            <a:ext cx="102870" cy="16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b="1" dirty="0">
                <a:solidFill>
                  <a:srgbClr val="FF6B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‣</a:t>
            </a:r>
            <a:endParaRPr lang="en-US" sz="844" dirty="0"/>
          </a:p>
        </p:txBody>
      </p:sp>
      <p:sp>
        <p:nvSpPr>
          <p:cNvPr id="62" name="Text 60"/>
          <p:cNvSpPr/>
          <p:nvPr/>
        </p:nvSpPr>
        <p:spPr>
          <a:xfrm>
            <a:off x="7018734" y="3357786"/>
            <a:ext cx="1503759" cy="16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VLM</a:t>
            </a:r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視覺驗證</a:t>
            </a:r>
            <a:endParaRPr lang="en-US" sz="844" dirty="0"/>
          </a:p>
        </p:txBody>
      </p:sp>
      <p:sp>
        <p:nvSpPr>
          <p:cNvPr id="63" name="Text 61"/>
          <p:cNvSpPr/>
          <p:nvPr/>
        </p:nvSpPr>
        <p:spPr>
          <a:xfrm>
            <a:off x="6890147" y="3787973"/>
            <a:ext cx="102870" cy="16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b="1" dirty="0">
                <a:solidFill>
                  <a:srgbClr val="FF6B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‣</a:t>
            </a:r>
            <a:endParaRPr lang="en-US" sz="844" dirty="0"/>
          </a:p>
        </p:txBody>
      </p:sp>
      <p:sp>
        <p:nvSpPr>
          <p:cNvPr id="64" name="Text 62"/>
          <p:cNvSpPr/>
          <p:nvPr/>
        </p:nvSpPr>
        <p:spPr>
          <a:xfrm>
            <a:off x="7018734" y="3787973"/>
            <a:ext cx="1503759" cy="16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單元測試（軌跡/訂閱修復項）</a:t>
            </a:r>
            <a:endParaRPr lang="en-US" sz="844" dirty="0"/>
          </a:p>
        </p:txBody>
      </p:sp>
      <p:sp>
        <p:nvSpPr>
          <p:cNvPr id="65" name="Text 63"/>
          <p:cNvSpPr/>
          <p:nvPr/>
        </p:nvSpPr>
        <p:spPr>
          <a:xfrm>
            <a:off x="460772" y="4400550"/>
            <a:ext cx="8222456" cy="382191"/>
          </a:xfrm>
          <a:prstGeom prst="roundRect">
            <a:avLst>
              <a:gd name="adj" fmla="val 34891"/>
            </a:avLst>
          </a:prstGeom>
          <a:solidFill>
            <a:srgbClr val="1B2330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2880047" y="4511278"/>
            <a:ext cx="5606728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TypeScript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貫穿前後端 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F6B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硬體層 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C++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隔離 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F6B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上層永不碰串口細節</a:t>
            </a:r>
            <a:endParaRPr lang="en-US" sz="844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71475"/>
            <a:ext cx="8636000" cy="156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42" kern="0" dirty="0">
                <a:solidFill>
                  <a:srgbClr val="FF6B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· ROADMAP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55427"/>
            <a:ext cx="8636000" cy="33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2138" b="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下一個迭代，已經在圖紙上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457200" y="981819"/>
            <a:ext cx="682687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 </a:t>
            </a:r>
            <a:pPr algn="l" indent="0" marL="0">
              <a:lnSpc>
                <a:spcPts val="1266"/>
              </a:lnSpc>
              <a:buNone/>
            </a:pPr>
            <a:r>
              <a:rPr lang="en-US" sz="800" b="1" spc="87" kern="0" dirty="0">
                <a:solidFill>
                  <a:srgbClr val="FF6B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844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328" y="1055043"/>
            <a:ext cx="1912962" cy="142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019016" y="990749"/>
            <a:ext cx="9144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6B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7" name="Text 4"/>
          <p:cNvSpPr/>
          <p:nvPr/>
        </p:nvSpPr>
        <p:spPr>
          <a:xfrm>
            <a:off x="3247951" y="981819"/>
            <a:ext cx="599366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 </a:t>
            </a:r>
            <a:pPr algn="l" indent="0" marL="0">
              <a:lnSpc>
                <a:spcPts val="1266"/>
              </a:lnSpc>
              <a:buNone/>
            </a:pPr>
            <a:r>
              <a:rPr lang="en-US" sz="800" b="1" spc="87" kern="0" dirty="0">
                <a:solidFill>
                  <a:srgbClr val="FF6B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</a:t>
            </a:r>
            <a:endParaRPr lang="en-US" sz="844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2813" y="1055043"/>
            <a:ext cx="1971340" cy="142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09878" y="990749"/>
            <a:ext cx="9144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6B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10" name="Text 6"/>
          <p:cNvSpPr/>
          <p:nvPr/>
        </p:nvSpPr>
        <p:spPr>
          <a:xfrm>
            <a:off x="6038813" y="981819"/>
            <a:ext cx="849488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遠期 </a:t>
            </a:r>
            <a:pPr algn="l" indent="0" marL="0">
              <a:lnSpc>
                <a:spcPts val="1266"/>
              </a:lnSpc>
              <a:buNone/>
            </a:pPr>
            <a:r>
              <a:rPr lang="en-US" sz="800" b="1" spc="87" kern="0" dirty="0">
                <a:solidFill>
                  <a:srgbClr val="FF6B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</a:t>
            </a:r>
            <a:endParaRPr lang="en-US" sz="844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8585" y="1055043"/>
            <a:ext cx="1968103" cy="14288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42566"/>
            <a:ext cx="2647876" cy="330978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0772" y="1246138"/>
            <a:ext cx="2640732" cy="3302645"/>
          </a:xfrm>
          <a:prstGeom prst="roundRect">
            <a:avLst>
              <a:gd name="adj" fmla="val 5050"/>
            </a:avLst>
          </a:prstGeom>
          <a:solidFill>
            <a:srgbClr val="141A23"/>
          </a:solidFill>
          <a:ln w="7144">
            <a:solidFill>
              <a:srgbClr val="FF6B1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8"/>
          <p:cNvSpPr/>
          <p:nvPr/>
        </p:nvSpPr>
        <p:spPr>
          <a:xfrm>
            <a:off x="621506" y="1406872"/>
            <a:ext cx="1860947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下一版</a:t>
            </a:r>
            <a:endParaRPr lang="en-US" sz="1013" dirty="0"/>
          </a:p>
        </p:txBody>
      </p:sp>
      <p:sp>
        <p:nvSpPr>
          <p:cNvPr id="15" name="Text 9"/>
          <p:cNvSpPr/>
          <p:nvPr/>
        </p:nvSpPr>
        <p:spPr>
          <a:xfrm>
            <a:off x="2478979" y="1400300"/>
            <a:ext cx="479551" cy="206026"/>
          </a:xfrm>
          <a:prstGeom prst="roundRect">
            <a:avLst>
              <a:gd name="adj" fmla="val 4618580"/>
            </a:avLst>
          </a:prstGeom>
          <a:solidFill>
            <a:srgbClr val="FF6B1A">
              <a:alpha val="12000"/>
            </a:srgbClr>
          </a:solidFill>
          <a:ln w="7144">
            <a:solidFill>
              <a:srgbClr val="FF6B1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0"/>
          <p:cNvSpPr/>
          <p:nvPr/>
        </p:nvSpPr>
        <p:spPr>
          <a:xfrm>
            <a:off x="2496741" y="1411337"/>
            <a:ext cx="444029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700" spc="59" kern="0" dirty="0">
                <a:solidFill>
                  <a:srgbClr val="FF6B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進行中</a:t>
            </a:r>
            <a:endParaRPr lang="en-US" sz="700" dirty="0"/>
          </a:p>
        </p:txBody>
      </p:sp>
      <p:sp>
        <p:nvSpPr>
          <p:cNvPr id="17" name="Text 11"/>
          <p:cNvSpPr/>
          <p:nvPr/>
        </p:nvSpPr>
        <p:spPr>
          <a:xfrm>
            <a:off x="621506" y="1699766"/>
            <a:ext cx="2319263" cy="7144"/>
          </a:xfrm>
          <a:prstGeom prst="rect">
            <a:avLst/>
          </a:prstGeom>
          <a:solidFill>
            <a:srgbClr val="2A3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2"/>
          <p:cNvSpPr/>
          <p:nvPr/>
        </p:nvSpPr>
        <p:spPr>
          <a:xfrm>
            <a:off x="621506" y="2139665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FF6B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✎</a:t>
            </a:r>
            <a:endParaRPr lang="en-US" sz="1336" dirty="0"/>
          </a:p>
        </p:txBody>
      </p:sp>
      <p:sp>
        <p:nvSpPr>
          <p:cNvPr id="19" name="Text 13"/>
          <p:cNvSpPr/>
          <p:nvPr/>
        </p:nvSpPr>
        <p:spPr>
          <a:xfrm>
            <a:off x="842963" y="2125377"/>
            <a:ext cx="2097807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E8EDF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3D</a:t>
            </a:r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IK</a:t>
            </a:r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拖動</a:t>
            </a:r>
            <a:endParaRPr lang="en-US" sz="844" dirty="0"/>
          </a:p>
        </p:txBody>
      </p:sp>
      <p:sp>
        <p:nvSpPr>
          <p:cNvPr id="20" name="Text 14"/>
          <p:cNvSpPr/>
          <p:nvPr/>
        </p:nvSpPr>
        <p:spPr>
          <a:xfrm>
            <a:off x="842963" y="2307543"/>
            <a:ext cx="2097807" cy="31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</a:t>
            </a:r>
            <a:pPr algn="l" indent="0" marL="0">
              <a:lnSpc>
                <a:spcPts val="124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3D</a:t>
            </a:r>
            <a:pPr algn="l" indent="0" marL="0">
              <a:lnSpc>
                <a:spcPts val="124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視圖拖曳 </a:t>
            </a:r>
            <a:pPr algn="l" indent="0" marL="0">
              <a:lnSpc>
                <a:spcPts val="1240"/>
              </a:lnSpc>
              <a:buNone/>
            </a:pPr>
            <a:r>
              <a:rPr lang="en-US" sz="800" dirty="0">
                <a:solidFill>
                  <a:srgbClr val="97A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</a:t>
            </a:r>
            <a:pPr algn="l" indent="0" marL="0">
              <a:lnSpc>
                <a:spcPts val="124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末端執行器，即時逆運動學求解（對標 </a:t>
            </a:r>
            <a:pPr algn="l" indent="0" marL="0">
              <a:lnSpc>
                <a:spcPts val="1240"/>
              </a:lnSpc>
              <a:buNone/>
            </a:pPr>
            <a:r>
              <a:rPr lang="en-US" sz="800" dirty="0">
                <a:solidFill>
                  <a:srgbClr val="97A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 Teach Pendant / RoboDK</a:t>
            </a:r>
            <a:pPr algn="l" indent="0" marL="0">
              <a:lnSpc>
                <a:spcPts val="124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703" dirty="0"/>
          </a:p>
        </p:txBody>
      </p:sp>
      <p:sp>
        <p:nvSpPr>
          <p:cNvPr id="21" name="Text 15"/>
          <p:cNvSpPr/>
          <p:nvPr/>
        </p:nvSpPr>
        <p:spPr>
          <a:xfrm>
            <a:off x="621506" y="3002831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FF6B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336" dirty="0"/>
          </a:p>
        </p:txBody>
      </p:sp>
      <p:sp>
        <p:nvSpPr>
          <p:cNvPr id="22" name="Text 16"/>
          <p:cNvSpPr/>
          <p:nvPr/>
        </p:nvSpPr>
        <p:spPr>
          <a:xfrm>
            <a:off x="842963" y="2988543"/>
            <a:ext cx="2097807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循環回放</a:t>
            </a:r>
            <a:endParaRPr lang="en-US" sz="844" dirty="0"/>
          </a:p>
        </p:txBody>
      </p:sp>
      <p:sp>
        <p:nvSpPr>
          <p:cNvPr id="23" name="Text 17"/>
          <p:cNvSpPr/>
          <p:nvPr/>
        </p:nvSpPr>
        <p:spPr>
          <a:xfrm>
            <a:off x="842963" y="3170709"/>
            <a:ext cx="1936062" cy="149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軌跡支持設定次數或無限循環 · 循環間隔可調</a:t>
            </a:r>
            <a:endParaRPr lang="en-US" sz="703" dirty="0"/>
          </a:p>
        </p:txBody>
      </p:sp>
      <p:sp>
        <p:nvSpPr>
          <p:cNvPr id="24" name="Text 18"/>
          <p:cNvSpPr/>
          <p:nvPr/>
        </p:nvSpPr>
        <p:spPr>
          <a:xfrm>
            <a:off x="621506" y="3713299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FF6B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336" dirty="0"/>
          </a:p>
        </p:txBody>
      </p:sp>
      <p:sp>
        <p:nvSpPr>
          <p:cNvPr id="25" name="Text 19"/>
          <p:cNvSpPr/>
          <p:nvPr/>
        </p:nvSpPr>
        <p:spPr>
          <a:xfrm>
            <a:off x="842963" y="3699011"/>
            <a:ext cx="1899374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</a:t>
            </a:r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Key</a:t>
            </a:r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有效期</a:t>
            </a:r>
            <a:endParaRPr lang="en-US" sz="844" dirty="0"/>
          </a:p>
        </p:txBody>
      </p:sp>
      <p:sp>
        <p:nvSpPr>
          <p:cNvPr id="26" name="Text 20"/>
          <p:cNvSpPr/>
          <p:nvPr/>
        </p:nvSpPr>
        <p:spPr>
          <a:xfrm>
            <a:off x="842963" y="3881177"/>
            <a:ext cx="1701658" cy="157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800" dirty="0">
                <a:solidFill>
                  <a:srgbClr val="97A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expiry</a:t>
            </a:r>
            <a:pPr algn="l" indent="0" marL="0">
              <a:lnSpc>
                <a:spcPts val="124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欄位 · 到期自動失效 · 續期提醒</a:t>
            </a:r>
            <a:endParaRPr lang="en-US" sz="703" dirty="0"/>
          </a:p>
        </p:txBody>
      </p:sp>
      <p:sp>
        <p:nvSpPr>
          <p:cNvPr id="27" name="Text 21"/>
          <p:cNvSpPr/>
          <p:nvPr/>
        </p:nvSpPr>
        <p:spPr>
          <a:xfrm>
            <a:off x="3251522" y="1246138"/>
            <a:ext cx="2640843" cy="3302645"/>
          </a:xfrm>
          <a:prstGeom prst="roundRect">
            <a:avLst>
              <a:gd name="adj" fmla="val 5050"/>
            </a:avLst>
          </a:prstGeom>
          <a:solidFill>
            <a:srgbClr val="141A23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2"/>
          <p:cNvSpPr/>
          <p:nvPr/>
        </p:nvSpPr>
        <p:spPr>
          <a:xfrm>
            <a:off x="3412257" y="1406872"/>
            <a:ext cx="2319375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</a:t>
            </a:r>
            <a:endParaRPr lang="en-US" sz="1013" dirty="0"/>
          </a:p>
        </p:txBody>
      </p:sp>
      <p:sp>
        <p:nvSpPr>
          <p:cNvPr id="29" name="Text 23"/>
          <p:cNvSpPr/>
          <p:nvPr/>
        </p:nvSpPr>
        <p:spPr>
          <a:xfrm>
            <a:off x="3412257" y="1699766"/>
            <a:ext cx="2319375" cy="7144"/>
          </a:xfrm>
          <a:prstGeom prst="rect">
            <a:avLst/>
          </a:prstGeom>
          <a:solidFill>
            <a:srgbClr val="2A3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4"/>
          <p:cNvSpPr/>
          <p:nvPr/>
        </p:nvSpPr>
        <p:spPr>
          <a:xfrm>
            <a:off x="3412257" y="2618519"/>
            <a:ext cx="2319375" cy="0"/>
          </a:xfrm>
          <a:prstGeom prst="line">
            <a:avLst/>
          </a:prstGeom>
          <a:noFill/>
          <a:ln w="7144">
            <a:solidFill>
              <a:srgbClr val="2A3444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3412257" y="2093007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4CC9F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336" dirty="0"/>
          </a:p>
        </p:txBody>
      </p:sp>
      <p:sp>
        <p:nvSpPr>
          <p:cNvPr id="32" name="Text 26"/>
          <p:cNvSpPr/>
          <p:nvPr/>
        </p:nvSpPr>
        <p:spPr>
          <a:xfrm>
            <a:off x="3633713" y="2000585"/>
            <a:ext cx="1458325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夾爪控制整合</a:t>
            </a:r>
            <a:endParaRPr lang="en-US" sz="844" dirty="0"/>
          </a:p>
        </p:txBody>
      </p:sp>
      <p:sp>
        <p:nvSpPr>
          <p:cNvPr id="33" name="Text 27"/>
          <p:cNvSpPr/>
          <p:nvPr/>
        </p:nvSpPr>
        <p:spPr>
          <a:xfrm>
            <a:off x="3633713" y="2182750"/>
            <a:ext cx="1335279" cy="149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開合/力道回報整合到指令集</a:t>
            </a:r>
            <a:endParaRPr lang="en-US" sz="703" dirty="0"/>
          </a:p>
        </p:txBody>
      </p:sp>
      <p:sp>
        <p:nvSpPr>
          <p:cNvPr id="34" name="Shape 28"/>
          <p:cNvSpPr/>
          <p:nvPr/>
        </p:nvSpPr>
        <p:spPr>
          <a:xfrm>
            <a:off x="3412257" y="3533701"/>
            <a:ext cx="2319375" cy="0"/>
          </a:xfrm>
          <a:prstGeom prst="line">
            <a:avLst/>
          </a:prstGeom>
          <a:noFill/>
          <a:ln w="7144">
            <a:solidFill>
              <a:srgbClr val="2A3444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3412257" y="3008188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4CC9F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336" dirty="0"/>
          </a:p>
        </p:txBody>
      </p:sp>
      <p:sp>
        <p:nvSpPr>
          <p:cNvPr id="36" name="Text 30"/>
          <p:cNvSpPr/>
          <p:nvPr/>
        </p:nvSpPr>
        <p:spPr>
          <a:xfrm>
            <a:off x="3633713" y="2915766"/>
            <a:ext cx="1069848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力控 / 阻抗模式</a:t>
            </a:r>
            <a:endParaRPr lang="en-US" sz="844" dirty="0"/>
          </a:p>
        </p:txBody>
      </p:sp>
      <p:sp>
        <p:nvSpPr>
          <p:cNvPr id="37" name="Text 31"/>
          <p:cNvSpPr/>
          <p:nvPr/>
        </p:nvSpPr>
        <p:spPr>
          <a:xfrm>
            <a:off x="3633713" y="3097932"/>
            <a:ext cx="1069848" cy="149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接觸式任務安全基礎</a:t>
            </a:r>
            <a:endParaRPr lang="en-US" sz="703" dirty="0"/>
          </a:p>
        </p:txBody>
      </p:sp>
      <p:sp>
        <p:nvSpPr>
          <p:cNvPr id="38" name="Text 32"/>
          <p:cNvSpPr/>
          <p:nvPr/>
        </p:nvSpPr>
        <p:spPr>
          <a:xfrm>
            <a:off x="3412257" y="3923370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4CC9F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336" dirty="0"/>
          </a:p>
        </p:txBody>
      </p:sp>
      <p:sp>
        <p:nvSpPr>
          <p:cNvPr id="39" name="Text 33"/>
          <p:cNvSpPr/>
          <p:nvPr/>
        </p:nvSpPr>
        <p:spPr>
          <a:xfrm>
            <a:off x="3633713" y="3830948"/>
            <a:ext cx="1081278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姿勢庫排程執行</a:t>
            </a:r>
            <a:endParaRPr lang="en-US" sz="844" dirty="0"/>
          </a:p>
        </p:txBody>
      </p:sp>
      <p:sp>
        <p:nvSpPr>
          <p:cNvPr id="40" name="Text 34"/>
          <p:cNvSpPr/>
          <p:nvPr/>
        </p:nvSpPr>
        <p:spPr>
          <a:xfrm>
            <a:off x="3633713" y="4013113"/>
            <a:ext cx="990045" cy="149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序列編排 + 定時觸發</a:t>
            </a:r>
            <a:endParaRPr lang="en-US" sz="703" dirty="0"/>
          </a:p>
        </p:txBody>
      </p:sp>
      <p:sp>
        <p:nvSpPr>
          <p:cNvPr id="41" name="Text 35"/>
          <p:cNvSpPr/>
          <p:nvPr/>
        </p:nvSpPr>
        <p:spPr>
          <a:xfrm>
            <a:off x="6042385" y="1246138"/>
            <a:ext cx="2640732" cy="3302645"/>
          </a:xfrm>
          <a:prstGeom prst="roundRect">
            <a:avLst>
              <a:gd name="adj" fmla="val 5050"/>
            </a:avLst>
          </a:prstGeom>
          <a:solidFill>
            <a:srgbClr val="141A23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6"/>
          <p:cNvSpPr/>
          <p:nvPr/>
        </p:nvSpPr>
        <p:spPr>
          <a:xfrm>
            <a:off x="6203119" y="1406872"/>
            <a:ext cx="2319263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遠期</a:t>
            </a:r>
            <a:endParaRPr lang="en-US" sz="1013" dirty="0"/>
          </a:p>
        </p:txBody>
      </p:sp>
      <p:sp>
        <p:nvSpPr>
          <p:cNvPr id="43" name="Text 37"/>
          <p:cNvSpPr/>
          <p:nvPr/>
        </p:nvSpPr>
        <p:spPr>
          <a:xfrm>
            <a:off x="6203119" y="1699766"/>
            <a:ext cx="2319263" cy="7144"/>
          </a:xfrm>
          <a:prstGeom prst="rect">
            <a:avLst/>
          </a:prstGeom>
          <a:solidFill>
            <a:srgbClr val="2A3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38"/>
          <p:cNvSpPr/>
          <p:nvPr/>
        </p:nvSpPr>
        <p:spPr>
          <a:xfrm>
            <a:off x="6203119" y="2618519"/>
            <a:ext cx="2319263" cy="0"/>
          </a:xfrm>
          <a:prstGeom prst="line">
            <a:avLst/>
          </a:prstGeom>
          <a:noFill/>
          <a:ln w="7144">
            <a:solidFill>
              <a:srgbClr val="2A3444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6203119" y="2093007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97A3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❄</a:t>
            </a:r>
            <a:endParaRPr lang="en-US" sz="1336" dirty="0"/>
          </a:p>
        </p:txBody>
      </p:sp>
      <p:sp>
        <p:nvSpPr>
          <p:cNvPr id="46" name="Text 40"/>
          <p:cNvSpPr/>
          <p:nvPr/>
        </p:nvSpPr>
        <p:spPr>
          <a:xfrm>
            <a:off x="6424575" y="2000585"/>
            <a:ext cx="832104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多臂協作編排</a:t>
            </a:r>
            <a:endParaRPr lang="en-US" sz="844" dirty="0"/>
          </a:p>
        </p:txBody>
      </p:sp>
      <p:sp>
        <p:nvSpPr>
          <p:cNvPr id="47" name="Text 41"/>
          <p:cNvSpPr/>
          <p:nvPr/>
        </p:nvSpPr>
        <p:spPr>
          <a:xfrm>
            <a:off x="6424575" y="2182750"/>
            <a:ext cx="832104" cy="149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統一任務圖調度</a:t>
            </a:r>
            <a:endParaRPr lang="en-US" sz="703" dirty="0"/>
          </a:p>
        </p:txBody>
      </p:sp>
      <p:sp>
        <p:nvSpPr>
          <p:cNvPr id="48" name="Shape 42"/>
          <p:cNvSpPr/>
          <p:nvPr/>
        </p:nvSpPr>
        <p:spPr>
          <a:xfrm>
            <a:off x="6203119" y="3533701"/>
            <a:ext cx="2319263" cy="0"/>
          </a:xfrm>
          <a:prstGeom prst="line">
            <a:avLst/>
          </a:prstGeom>
          <a:noFill/>
          <a:ln w="7144">
            <a:solidFill>
              <a:srgbClr val="2A3444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6203119" y="3008188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97A3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336" dirty="0"/>
          </a:p>
        </p:txBody>
      </p:sp>
      <p:sp>
        <p:nvSpPr>
          <p:cNvPr id="50" name="Text 44"/>
          <p:cNvSpPr/>
          <p:nvPr/>
        </p:nvSpPr>
        <p:spPr>
          <a:xfrm>
            <a:off x="6424575" y="2915766"/>
            <a:ext cx="832104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雲端集中監控</a:t>
            </a:r>
            <a:endParaRPr lang="en-US" sz="844" dirty="0"/>
          </a:p>
        </p:txBody>
      </p:sp>
      <p:sp>
        <p:nvSpPr>
          <p:cNvPr id="51" name="Text 45"/>
          <p:cNvSpPr/>
          <p:nvPr/>
        </p:nvSpPr>
        <p:spPr>
          <a:xfrm>
            <a:off x="6424575" y="3097932"/>
            <a:ext cx="832104" cy="149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多站點遙測聚合</a:t>
            </a:r>
            <a:endParaRPr lang="en-US" sz="703" dirty="0"/>
          </a:p>
        </p:txBody>
      </p:sp>
      <p:sp>
        <p:nvSpPr>
          <p:cNvPr id="52" name="Text 46"/>
          <p:cNvSpPr/>
          <p:nvPr/>
        </p:nvSpPr>
        <p:spPr>
          <a:xfrm>
            <a:off x="6203119" y="3923370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97A3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336" dirty="0"/>
          </a:p>
        </p:txBody>
      </p:sp>
      <p:sp>
        <p:nvSpPr>
          <p:cNvPr id="53" name="Text 47"/>
          <p:cNvSpPr/>
          <p:nvPr/>
        </p:nvSpPr>
        <p:spPr>
          <a:xfrm>
            <a:off x="6424575" y="3830948"/>
            <a:ext cx="1081278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視覺引導抓取</a:t>
            </a:r>
            <a:endParaRPr lang="en-US" sz="844" dirty="0"/>
          </a:p>
        </p:txBody>
      </p:sp>
      <p:sp>
        <p:nvSpPr>
          <p:cNvPr id="54" name="Text 48"/>
          <p:cNvSpPr/>
          <p:nvPr/>
        </p:nvSpPr>
        <p:spPr>
          <a:xfrm>
            <a:off x="6424575" y="4013113"/>
            <a:ext cx="990045" cy="149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相機標定 + 視覺伺服</a:t>
            </a:r>
            <a:endParaRPr lang="en-US" sz="703" dirty="0"/>
          </a:p>
        </p:txBody>
      </p:sp>
      <p:sp>
        <p:nvSpPr>
          <p:cNvPr id="55" name="Text 49"/>
          <p:cNvSpPr/>
          <p:nvPr/>
        </p:nvSpPr>
        <p:spPr>
          <a:xfrm>
            <a:off x="2796332" y="4694337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97A3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055" dirty="0"/>
          </a:p>
        </p:txBody>
      </p:sp>
      <p:sp>
        <p:nvSpPr>
          <p:cNvPr id="56" name="Text 50"/>
          <p:cNvSpPr/>
          <p:nvPr/>
        </p:nvSpPr>
        <p:spPr>
          <a:xfrm>
            <a:off x="2960638" y="4680942"/>
            <a:ext cx="5726162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IK</a:t>
            </a:r>
            <a:pPr algn="l" indent="0" marL="0">
              <a:lnSpc>
                <a:spcPts val="120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求解器將基於既有 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7A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DH</a:t>
            </a:r>
            <a:pPr algn="l" indent="0" marL="0">
              <a:lnSpc>
                <a:spcPts val="120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參數與正運動學（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7A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robot-model.ts</a:t>
            </a:r>
            <a:pPr algn="l" indent="0" marL="0">
              <a:lnSpc>
                <a:spcPts val="120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）擴展 — 地基已備好</a:t>
            </a:r>
            <a:endParaRPr lang="en-US" sz="703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3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tmp/h2p-fit-1793162847001-u26zx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82" y="0"/>
            <a:ext cx="3291818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52182" y="0"/>
            <a:ext cx="3291818" cy="5143500"/>
          </a:xfrm>
          <a:prstGeom prst="rect">
            <a:avLst/>
          </a:prstGeom>
          <a:solidFill>
            <a:srgbClr val="0B0E13">
              <a:alpha val="3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82" y="0"/>
            <a:ext cx="3291818" cy="51435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457200" y="414338"/>
            <a:ext cx="74950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42" kern="0" dirty="0">
                <a:solidFill>
                  <a:srgbClr val="FF6B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CLOSING</a:t>
            </a:r>
            <a:endParaRPr lang="en-US" sz="800" dirty="0"/>
          </a:p>
        </p:txBody>
      </p:sp>
      <p:sp>
        <p:nvSpPr>
          <p:cNvPr id="7" name="Text 2"/>
          <p:cNvSpPr/>
          <p:nvPr/>
        </p:nvSpPr>
        <p:spPr>
          <a:xfrm>
            <a:off x="457200" y="626864"/>
            <a:ext cx="5400675" cy="43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7"/>
              </a:lnSpc>
              <a:buNone/>
            </a:pPr>
            <a:r>
              <a:rPr lang="en-US" sz="2588" b="1" spc="13" kern="0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從網頁滑條，到 </a:t>
            </a:r>
            <a:pPr algn="l" indent="0" marL="0">
              <a:lnSpc>
                <a:spcPts val="3157"/>
              </a:lnSpc>
              <a:buNone/>
            </a:pPr>
            <a:r>
              <a:rPr lang="en-US" sz="2588" b="1" spc="13" kern="0" dirty="0">
                <a:solidFill>
                  <a:srgbClr val="FF6B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 Mbaud</a:t>
            </a:r>
            <a:pPr algn="l" indent="0" marL="0">
              <a:lnSpc>
                <a:spcPts val="3157"/>
              </a:lnSpc>
              <a:buNone/>
            </a:pPr>
            <a:r>
              <a:rPr lang="en-US" sz="2588" b="1" spc="13" kern="0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串口</a:t>
            </a:r>
            <a:endParaRPr lang="en-US" sz="2588" dirty="0"/>
          </a:p>
        </p:txBody>
      </p:sp>
      <p:sp>
        <p:nvSpPr>
          <p:cNvPr id="8" name="Text 3"/>
          <p:cNvSpPr/>
          <p:nvPr/>
        </p:nvSpPr>
        <p:spPr>
          <a:xfrm>
            <a:off x="457200" y="1127708"/>
            <a:ext cx="540067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一條已驗證、可落地、可擴展的控制鏈路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457200" y="2043894"/>
            <a:ext cx="502920" cy="21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350" dirty="0">
                <a:solidFill>
                  <a:srgbClr val="FF6B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885825" y="2043894"/>
            <a:ext cx="2258568" cy="183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安全內建而非外掛</a:t>
            </a:r>
            <a:endParaRPr lang="en-US" sz="956" dirty="0"/>
          </a:p>
        </p:txBody>
      </p:sp>
      <p:sp>
        <p:nvSpPr>
          <p:cNvPr id="11" name="Text 6"/>
          <p:cNvSpPr/>
          <p:nvPr/>
        </p:nvSpPr>
        <p:spPr>
          <a:xfrm>
            <a:off x="885825" y="2254634"/>
            <a:ext cx="1852732" cy="149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每條指令穿過五層防護，急停聯鎖實測有效</a:t>
            </a:r>
            <a:endParaRPr lang="en-US" sz="703" dirty="0"/>
          </a:p>
        </p:txBody>
      </p:sp>
      <p:sp>
        <p:nvSpPr>
          <p:cNvPr id="12" name="Text 7"/>
          <p:cNvSpPr/>
          <p:nvPr/>
        </p:nvSpPr>
        <p:spPr>
          <a:xfrm>
            <a:off x="457200" y="2578782"/>
            <a:ext cx="502920" cy="21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350" dirty="0">
                <a:solidFill>
                  <a:srgbClr val="FF6B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885825" y="2578782"/>
            <a:ext cx="3519841" cy="183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E8ED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ROS</a:t>
            </a:r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E8EDF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概念完整落地</a:t>
            </a:r>
            <a:endParaRPr lang="en-US" sz="956" dirty="0"/>
          </a:p>
        </p:txBody>
      </p:sp>
      <p:sp>
        <p:nvSpPr>
          <p:cNvPr id="14" name="Text 9"/>
          <p:cNvSpPr/>
          <p:nvPr/>
        </p:nvSpPr>
        <p:spPr>
          <a:xfrm>
            <a:off x="885825" y="2789523"/>
            <a:ext cx="3003277" cy="157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800" dirty="0">
                <a:solidFill>
                  <a:srgbClr val="97A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topic / service / lifecycle / parameter</a:t>
            </a:r>
            <a:pPr algn="l" indent="0" marL="0">
              <a:lnSpc>
                <a:spcPts val="124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全部映射到 </a:t>
            </a:r>
            <a:pPr algn="l" indent="0" marL="0">
              <a:lnSpc>
                <a:spcPts val="124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Web</a:t>
            </a:r>
            <a:pPr algn="l" indent="0" marL="0">
              <a:lnSpc>
                <a:spcPts val="124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世界</a:t>
            </a:r>
            <a:endParaRPr lang="en-US" sz="703" dirty="0"/>
          </a:p>
        </p:txBody>
      </p:sp>
      <p:sp>
        <p:nvSpPr>
          <p:cNvPr id="15" name="Text 10"/>
          <p:cNvSpPr/>
          <p:nvPr/>
        </p:nvSpPr>
        <p:spPr>
          <a:xfrm>
            <a:off x="457200" y="3120814"/>
            <a:ext cx="502920" cy="21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350" dirty="0">
                <a:solidFill>
                  <a:srgbClr val="FF6B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885825" y="3120814"/>
            <a:ext cx="2515172" cy="183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模擬到真機零改碼</a:t>
            </a:r>
            <a:endParaRPr lang="en-US" sz="956" dirty="0"/>
          </a:p>
        </p:txBody>
      </p:sp>
      <p:sp>
        <p:nvSpPr>
          <p:cNvPr id="17" name="Text 12"/>
          <p:cNvSpPr/>
          <p:nvPr/>
        </p:nvSpPr>
        <p:spPr>
          <a:xfrm>
            <a:off x="885825" y="3331555"/>
            <a:ext cx="1964978" cy="157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三驅動 </a:t>
            </a:r>
            <a:pPr algn="l" indent="0" marL="0">
              <a:lnSpc>
                <a:spcPts val="1240"/>
              </a:lnSpc>
              <a:buNone/>
            </a:pPr>
            <a:r>
              <a:rPr lang="en-US" sz="800" dirty="0">
                <a:solidFill>
                  <a:srgbClr val="97A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</a:t>
            </a:r>
            <a:pPr algn="l" indent="0" marL="0">
              <a:lnSpc>
                <a:spcPts val="124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</a:t>
            </a:r>
            <a:pPr algn="l" indent="0" marL="0">
              <a:lnSpc>
                <a:spcPts val="1240"/>
              </a:lnSpc>
              <a:buNone/>
            </a:pPr>
            <a:r>
              <a:rPr lang="en-US" sz="800" dirty="0">
                <a:solidFill>
                  <a:srgbClr val="97A3B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r1a-deploy</a:t>
            </a:r>
            <a:pPr algn="l" indent="0" marL="0">
              <a:lnSpc>
                <a:spcPts val="124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部署包，路徑已鋪好</a:t>
            </a:r>
            <a:endParaRPr lang="en-US" sz="703" dirty="0"/>
          </a:p>
        </p:txBody>
      </p:sp>
      <p:sp>
        <p:nvSpPr>
          <p:cNvPr id="18" name="Text 13"/>
          <p:cNvSpPr/>
          <p:nvPr/>
        </p:nvSpPr>
        <p:spPr>
          <a:xfrm>
            <a:off x="460772" y="4168378"/>
            <a:ext cx="8222456" cy="600075"/>
          </a:xfrm>
          <a:prstGeom prst="roundRect">
            <a:avLst>
              <a:gd name="adj" fmla="val 22222"/>
            </a:avLst>
          </a:prstGeom>
          <a:solidFill>
            <a:srgbClr val="141A23"/>
          </a:solidFill>
          <a:ln w="7144">
            <a:solidFill>
              <a:srgbClr val="2A3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664369" y="4402336"/>
            <a:ext cx="677228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E8E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立即體驗</a:t>
            </a:r>
            <a:endParaRPr lang="en-US" sz="844" dirty="0"/>
          </a:p>
        </p:txBody>
      </p:sp>
      <p:sp>
        <p:nvSpPr>
          <p:cNvPr id="20" name="Text 15"/>
          <p:cNvSpPr/>
          <p:nvPr/>
        </p:nvSpPr>
        <p:spPr>
          <a:xfrm>
            <a:off x="1117885" y="4423767"/>
            <a:ext cx="3001714" cy="108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Web UI 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:3000</a:t>
            </a:r>
            <a:pPr algn="l" indent="0" marL="0">
              <a:lnSpc>
                <a:spcPts val="120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部署包 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8EDF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download/r1a-deploy</a:t>
            </a:r>
            <a:pPr algn="l" indent="0" marL="0">
              <a:lnSpc>
                <a:spcPts val="120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pPr algn="l" indent="0" marL="0">
              <a:lnSpc>
                <a:spcPts val="120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</a:t>
            </a:r>
            <a:pPr algn="l" indent="0" marL="0">
              <a:lnSpc>
                <a:spcPts val="1200"/>
              </a:lnSpc>
              <a:buNone/>
            </a:pPr>
            <a:r>
              <a:rPr lang="en-US" sz="703" dirty="0">
                <a:solidFill>
                  <a:srgbClr val="97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文檔內建於平台</a:t>
            </a:r>
            <a:endParaRPr lang="en-US" sz="703" dirty="0"/>
          </a:p>
        </p:txBody>
      </p:sp>
      <p:sp>
        <p:nvSpPr>
          <p:cNvPr id="21" name="Text 16"/>
          <p:cNvSpPr/>
          <p:nvPr/>
        </p:nvSpPr>
        <p:spPr>
          <a:xfrm>
            <a:off x="7307923" y="4307681"/>
            <a:ext cx="1248413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31"/>
              </a:lnSpc>
              <a:buNone/>
            </a:pPr>
            <a:r>
              <a:rPr lang="en-US" sz="1688" b="1" spc="17" kern="0" dirty="0">
                <a:solidFill>
                  <a:srgbClr val="FF6B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Thank You</a:t>
            </a:r>
            <a:endParaRPr lang="en-US" sz="168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2026-10-28T04:47:27Z</dcterms:created>
  <dcterms:modified xsi:type="dcterms:W3CDTF">2026-10-28T04:47:27Z</dcterms:modified>
</cp:coreProperties>
</file>